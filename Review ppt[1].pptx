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2"/>
  </p:notesMasterIdLst>
  <p:sldIdLst>
    <p:sldId id="256" r:id="rId2"/>
    <p:sldId id="268" r:id="rId3"/>
    <p:sldId id="258" r:id="rId4"/>
    <p:sldId id="257" r:id="rId5"/>
    <p:sldId id="267" r:id="rId6"/>
    <p:sldId id="269" r:id="rId7"/>
    <p:sldId id="270" r:id="rId8"/>
    <p:sldId id="271" r:id="rId9"/>
    <p:sldId id="272" r:id="rId10"/>
    <p:sldId id="273" r:id="rId11"/>
  </p:sldIdLst>
  <p:sldSz cx="9144000" cy="6858000" type="screen4x3"/>
  <p:notesSz cx="9144000" cy="6858000"/>
  <p:embeddedFontLst>
    <p:embeddedFont>
      <p:font typeface="Century Schoolbook" panose="02040604050505020304" pitchFamily="18" charset="0"/>
      <p:regular r:id="rId13"/>
      <p:bold r:id="rId14"/>
      <p:italic r:id="rId15"/>
      <p:boldItalic r:id="rId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4" roundtripDataSignature="AMtx7mguATwLBPAuOsgfyrv/xwC2db7Ua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CB3F4C0-F2E8-4320-A34B-0B094AA10944}">
  <a:tblStyle styleId="{6CB3F4C0-F2E8-4320-A34B-0B094AA10944}"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p:cViewPr varScale="1">
        <p:scale>
          <a:sx n="78" d="100"/>
          <a:sy n="78" d="100"/>
        </p:scale>
        <p:origin x="1622" y="62"/>
      </p:cViewPr>
      <p:guideLst>
        <p:guide orient="horz" pos="2880"/>
        <p:guide pos="216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3" Type="http://schemas.openxmlformats.org/officeDocument/2006/relationships/slide" Target="slides/slide2.xml"/><Relationship Id="rId34" Type="http://customschemas.google.com/relationships/presentationmetadata" Target="metadata"/><Relationship Id="rId7" Type="http://schemas.openxmlformats.org/officeDocument/2006/relationships/slide" Target="slides/slide6.xml"/><Relationship Id="rId12"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3.fntdata"/><Relationship Id="rId36"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35"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524300" y="514350"/>
            <a:ext cx="60963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p:cNvGrpSpPr/>
        <p:nvPr/>
      </p:nvGrpSpPr>
      <p:grpSpPr>
        <a:xfrm>
          <a:off x="0" y="0"/>
          <a:ext cx="0" cy="0"/>
          <a:chOff x="0" y="0"/>
          <a:chExt cx="0" cy="0"/>
        </a:xfrm>
      </p:grpSpPr>
      <p:sp>
        <p:nvSpPr>
          <p:cNvPr id="43" name="Google Shape;43;p2: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4" name="Google Shape;44;p2: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g5cc8714c89_0_4: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4" name="Google Shape;54;g5cc8714c89_0_4: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p4:notes"/>
          <p:cNvSpPr txBox="1">
            <a:spLocks noGrp="1"/>
          </p:cNvSpPr>
          <p:nvPr>
            <p:ph type="body" idx="1"/>
          </p:nvPr>
        </p:nvSpPr>
        <p:spPr>
          <a:xfrm>
            <a:off x="914400" y="3257550"/>
            <a:ext cx="7315200" cy="308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 name="Google Shape;63;p4: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g5cc8714c89_0_4: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4" name="Google Shape;54;g5cc8714c89_0_4: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16:notes"/>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0" name="Google Shape;150;p16:notes"/>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a:extLst>
            <a:ext uri="{FF2B5EF4-FFF2-40B4-BE49-F238E27FC236}">
              <a16:creationId xmlns:a16="http://schemas.microsoft.com/office/drawing/2014/main" id="{9C8F6455-9BB0-FFB4-4BA8-E5EB22C5748C}"/>
            </a:ext>
          </a:extLst>
        </p:cNvPr>
        <p:cNvGrpSpPr/>
        <p:nvPr/>
      </p:nvGrpSpPr>
      <p:grpSpPr>
        <a:xfrm>
          <a:off x="0" y="0"/>
          <a:ext cx="0" cy="0"/>
          <a:chOff x="0" y="0"/>
          <a:chExt cx="0" cy="0"/>
        </a:xfrm>
      </p:grpSpPr>
      <p:sp>
        <p:nvSpPr>
          <p:cNvPr id="43" name="Google Shape;43;p2:notes">
            <a:extLst>
              <a:ext uri="{FF2B5EF4-FFF2-40B4-BE49-F238E27FC236}">
                <a16:creationId xmlns:a16="http://schemas.microsoft.com/office/drawing/2014/main" id="{3F2549AA-0183-1AC9-0709-9447424B62FE}"/>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4" name="Google Shape;44;p2:notes">
            <a:extLst>
              <a:ext uri="{FF2B5EF4-FFF2-40B4-BE49-F238E27FC236}">
                <a16:creationId xmlns:a16="http://schemas.microsoft.com/office/drawing/2014/main" id="{41B7FF57-647C-F565-C0C3-AC5C43860238}"/>
              </a:ext>
            </a:extLst>
          </p:cNvPr>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025381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a:extLst>
            <a:ext uri="{FF2B5EF4-FFF2-40B4-BE49-F238E27FC236}">
              <a16:creationId xmlns:a16="http://schemas.microsoft.com/office/drawing/2014/main" id="{711CA244-BB5C-39D9-1D78-EF1A19751A0C}"/>
            </a:ext>
          </a:extLst>
        </p:cNvPr>
        <p:cNvGrpSpPr/>
        <p:nvPr/>
      </p:nvGrpSpPr>
      <p:grpSpPr>
        <a:xfrm>
          <a:off x="0" y="0"/>
          <a:ext cx="0" cy="0"/>
          <a:chOff x="0" y="0"/>
          <a:chExt cx="0" cy="0"/>
        </a:xfrm>
      </p:grpSpPr>
      <p:sp>
        <p:nvSpPr>
          <p:cNvPr id="43" name="Google Shape;43;p2:notes">
            <a:extLst>
              <a:ext uri="{FF2B5EF4-FFF2-40B4-BE49-F238E27FC236}">
                <a16:creationId xmlns:a16="http://schemas.microsoft.com/office/drawing/2014/main" id="{3864EF79-8F51-0BA2-2347-CF49078740D3}"/>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4" name="Google Shape;44;p2:notes">
            <a:extLst>
              <a:ext uri="{FF2B5EF4-FFF2-40B4-BE49-F238E27FC236}">
                <a16:creationId xmlns:a16="http://schemas.microsoft.com/office/drawing/2014/main" id="{9520BB19-9FF2-04F3-9055-609DCBF980C7}"/>
              </a:ext>
            </a:extLst>
          </p:cNvPr>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28222627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a:extLst>
            <a:ext uri="{FF2B5EF4-FFF2-40B4-BE49-F238E27FC236}">
              <a16:creationId xmlns:a16="http://schemas.microsoft.com/office/drawing/2014/main" id="{F469D5D8-BC6D-9329-F661-E63B756EFD5F}"/>
            </a:ext>
          </a:extLst>
        </p:cNvPr>
        <p:cNvGrpSpPr/>
        <p:nvPr/>
      </p:nvGrpSpPr>
      <p:grpSpPr>
        <a:xfrm>
          <a:off x="0" y="0"/>
          <a:ext cx="0" cy="0"/>
          <a:chOff x="0" y="0"/>
          <a:chExt cx="0" cy="0"/>
        </a:xfrm>
      </p:grpSpPr>
      <p:sp>
        <p:nvSpPr>
          <p:cNvPr id="43" name="Google Shape;43;p2:notes">
            <a:extLst>
              <a:ext uri="{FF2B5EF4-FFF2-40B4-BE49-F238E27FC236}">
                <a16:creationId xmlns:a16="http://schemas.microsoft.com/office/drawing/2014/main" id="{DDC14559-0B92-8414-B16B-2C83C1AD6207}"/>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4" name="Google Shape;44;p2:notes">
            <a:extLst>
              <a:ext uri="{FF2B5EF4-FFF2-40B4-BE49-F238E27FC236}">
                <a16:creationId xmlns:a16="http://schemas.microsoft.com/office/drawing/2014/main" id="{2E965B59-D2CA-C8ED-3666-B7FCB3B6EAF9}"/>
              </a:ext>
            </a:extLst>
          </p:cNvPr>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0279806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a:extLst>
            <a:ext uri="{FF2B5EF4-FFF2-40B4-BE49-F238E27FC236}">
              <a16:creationId xmlns:a16="http://schemas.microsoft.com/office/drawing/2014/main" id="{0579DE1B-C0CB-9074-76B0-5CAA1F98D958}"/>
            </a:ext>
          </a:extLst>
        </p:cNvPr>
        <p:cNvGrpSpPr/>
        <p:nvPr/>
      </p:nvGrpSpPr>
      <p:grpSpPr>
        <a:xfrm>
          <a:off x="0" y="0"/>
          <a:ext cx="0" cy="0"/>
          <a:chOff x="0" y="0"/>
          <a:chExt cx="0" cy="0"/>
        </a:xfrm>
      </p:grpSpPr>
      <p:sp>
        <p:nvSpPr>
          <p:cNvPr id="43" name="Google Shape;43;p2:notes">
            <a:extLst>
              <a:ext uri="{FF2B5EF4-FFF2-40B4-BE49-F238E27FC236}">
                <a16:creationId xmlns:a16="http://schemas.microsoft.com/office/drawing/2014/main" id="{971EF290-6E19-741E-FAD5-E9E720466B3A}"/>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4" name="Google Shape;44;p2:notes">
            <a:extLst>
              <a:ext uri="{FF2B5EF4-FFF2-40B4-BE49-F238E27FC236}">
                <a16:creationId xmlns:a16="http://schemas.microsoft.com/office/drawing/2014/main" id="{FB2EE059-4C30-7B2D-8330-5BF0EC1CF7E8}"/>
              </a:ext>
            </a:extLst>
          </p:cNvPr>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1586251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a:extLst>
            <a:ext uri="{FF2B5EF4-FFF2-40B4-BE49-F238E27FC236}">
              <a16:creationId xmlns:a16="http://schemas.microsoft.com/office/drawing/2014/main" id="{85BEFCAD-5441-B0E0-A85F-0F919C6EF13A}"/>
            </a:ext>
          </a:extLst>
        </p:cNvPr>
        <p:cNvGrpSpPr/>
        <p:nvPr/>
      </p:nvGrpSpPr>
      <p:grpSpPr>
        <a:xfrm>
          <a:off x="0" y="0"/>
          <a:ext cx="0" cy="0"/>
          <a:chOff x="0" y="0"/>
          <a:chExt cx="0" cy="0"/>
        </a:xfrm>
      </p:grpSpPr>
      <p:sp>
        <p:nvSpPr>
          <p:cNvPr id="43" name="Google Shape;43;p2:notes">
            <a:extLst>
              <a:ext uri="{FF2B5EF4-FFF2-40B4-BE49-F238E27FC236}">
                <a16:creationId xmlns:a16="http://schemas.microsoft.com/office/drawing/2014/main" id="{ACACEA8A-A57A-95FD-2DFD-D0A7766E9171}"/>
              </a:ext>
            </a:extLst>
          </p:cNvPr>
          <p:cNvSpPr txBox="1">
            <a:spLocks noGrp="1"/>
          </p:cNvSpPr>
          <p:nvPr>
            <p:ph type="body" idx="1"/>
          </p:nvPr>
        </p:nvSpPr>
        <p:spPr>
          <a:xfrm>
            <a:off x="914400" y="3257550"/>
            <a:ext cx="7315200" cy="3086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44" name="Google Shape;44;p2:notes">
            <a:extLst>
              <a:ext uri="{FF2B5EF4-FFF2-40B4-BE49-F238E27FC236}">
                <a16:creationId xmlns:a16="http://schemas.microsoft.com/office/drawing/2014/main" id="{F42C1174-0E6D-E4F0-021C-05F284888629}"/>
              </a:ext>
            </a:extLst>
          </p:cNvPr>
          <p:cNvSpPr>
            <a:spLocks noGrp="1" noRot="1" noChangeAspect="1"/>
          </p:cNvSpPr>
          <p:nvPr>
            <p:ph type="sldImg" idx="2"/>
          </p:nvPr>
        </p:nvSpPr>
        <p:spPr>
          <a:xfrm>
            <a:off x="2857500" y="514350"/>
            <a:ext cx="3429000" cy="25717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2491546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4"/>
        <p:cNvGrpSpPr/>
        <p:nvPr/>
      </p:nvGrpSpPr>
      <p:grpSpPr>
        <a:xfrm>
          <a:off x="0" y="0"/>
          <a:ext cx="0" cy="0"/>
          <a:chOff x="0" y="0"/>
          <a:chExt cx="0" cy="0"/>
        </a:xfrm>
      </p:grpSpPr>
      <p:sp>
        <p:nvSpPr>
          <p:cNvPr id="15" name="Google Shape;15;p28"/>
          <p:cNvSpPr txBox="1">
            <a:spLocks noGrp="1"/>
          </p:cNvSpPr>
          <p:nvPr>
            <p:ph type="title"/>
          </p:nvPr>
        </p:nvSpPr>
        <p:spPr>
          <a:xfrm>
            <a:off x="1753870" y="482930"/>
            <a:ext cx="5636259" cy="69723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4400" b="1" i="0">
                <a:solidFill>
                  <a:schemeClr val="hlink"/>
                </a:solidFill>
                <a:latin typeface="Century Schoolbook"/>
                <a:ea typeface="Century Schoolbook"/>
                <a:cs typeface="Century Schoolbook"/>
                <a:sym typeface="Century Schoolboo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28"/>
          <p:cNvSpPr txBox="1">
            <a:spLocks noGrp="1"/>
          </p:cNvSpPr>
          <p:nvPr>
            <p:ph type="body" idx="1"/>
          </p:nvPr>
        </p:nvSpPr>
        <p:spPr>
          <a:xfrm>
            <a:off x="535940" y="1570180"/>
            <a:ext cx="8073390" cy="3409315"/>
          </a:xfrm>
          <a:prstGeom prst="rect">
            <a:avLst/>
          </a:prstGeom>
          <a:noFill/>
          <a:ln>
            <a:noFill/>
          </a:ln>
        </p:spPr>
        <p:txBody>
          <a:bodyPr spcFirstLastPara="1" wrap="square" lIns="0" tIns="0" rIns="0" bIns="0" anchor="t" anchorCtr="0">
            <a:spAutoFit/>
          </a:bodyPr>
          <a:lstStyle>
            <a:lvl1pPr marL="457200" lvl="0" indent="-228600" algn="l">
              <a:lnSpc>
                <a:spcPct val="100000"/>
              </a:lnSpc>
              <a:spcBef>
                <a:spcPts val="0"/>
              </a:spcBef>
              <a:spcAft>
                <a:spcPts val="0"/>
              </a:spcAft>
              <a:buSzPts val="1400"/>
              <a:buNone/>
              <a:defRPr sz="2400" b="0" i="0">
                <a:solidFill>
                  <a:schemeClr val="dk1"/>
                </a:solidFill>
                <a:latin typeface="Century Schoolbook"/>
                <a:ea typeface="Century Schoolbook"/>
                <a:cs typeface="Century Schoolbook"/>
                <a:sym typeface="Century Schoolbook"/>
              </a:defRPr>
            </a:lvl1pPr>
            <a:lvl2pPr marL="914400" lvl="1" indent="-228600" algn="l">
              <a:lnSpc>
                <a:spcPct val="100000"/>
              </a:lnSpc>
              <a:spcBef>
                <a:spcPts val="0"/>
              </a:spcBef>
              <a:spcAft>
                <a:spcPts val="0"/>
              </a:spcAft>
              <a:buSzPts val="1400"/>
              <a:buNone/>
              <a:defRPr/>
            </a:lvl2pPr>
            <a:lvl3pPr marL="1371600" lvl="2" indent="-228600" algn="l">
              <a:lnSpc>
                <a:spcPct val="100000"/>
              </a:lnSpc>
              <a:spcBef>
                <a:spcPts val="0"/>
              </a:spcBef>
              <a:spcAft>
                <a:spcPts val="0"/>
              </a:spcAft>
              <a:buSzPts val="1400"/>
              <a:buNone/>
              <a:defRPr/>
            </a:lvl3pPr>
            <a:lvl4pPr marL="1828800" lvl="3" indent="-228600" algn="l">
              <a:lnSpc>
                <a:spcPct val="100000"/>
              </a:lnSpc>
              <a:spcBef>
                <a:spcPts val="0"/>
              </a:spcBef>
              <a:spcAft>
                <a:spcPts val="0"/>
              </a:spcAft>
              <a:buSzPts val="1400"/>
              <a:buNone/>
              <a:defRPr/>
            </a:lvl4pPr>
            <a:lvl5pPr marL="2286000" lvl="4" indent="-228600" algn="l">
              <a:lnSpc>
                <a:spcPct val="100000"/>
              </a:lnSpc>
              <a:spcBef>
                <a:spcPts val="0"/>
              </a:spcBef>
              <a:spcAft>
                <a:spcPts val="0"/>
              </a:spcAft>
              <a:buSzPts val="1400"/>
              <a:buNone/>
              <a:defRPr/>
            </a:lvl5pPr>
            <a:lvl6pPr marL="2743200" lvl="5" indent="-228600" algn="l">
              <a:lnSpc>
                <a:spcPct val="100000"/>
              </a:lnSpc>
              <a:spcBef>
                <a:spcPts val="0"/>
              </a:spcBef>
              <a:spcAft>
                <a:spcPts val="0"/>
              </a:spcAft>
              <a:buSzPts val="1400"/>
              <a:buNone/>
              <a:defRPr/>
            </a:lvl6pPr>
            <a:lvl7pPr marL="3200400" lvl="6" indent="-228600" algn="l">
              <a:lnSpc>
                <a:spcPct val="100000"/>
              </a:lnSpc>
              <a:spcBef>
                <a:spcPts val="0"/>
              </a:spcBef>
              <a:spcAft>
                <a:spcPts val="0"/>
              </a:spcAft>
              <a:buSzPts val="1400"/>
              <a:buNone/>
              <a:defRPr/>
            </a:lvl7pPr>
            <a:lvl8pPr marL="3657600" lvl="7" indent="-228600" algn="l">
              <a:lnSpc>
                <a:spcPct val="100000"/>
              </a:lnSpc>
              <a:spcBef>
                <a:spcPts val="0"/>
              </a:spcBef>
              <a:spcAft>
                <a:spcPts val="0"/>
              </a:spcAft>
              <a:buSzPts val="1400"/>
              <a:buNone/>
              <a:defRPr/>
            </a:lvl8pPr>
            <a:lvl9pPr marL="4114800" lvl="8" indent="-228600" algn="l">
              <a:lnSpc>
                <a:spcPct val="100000"/>
              </a:lnSpc>
              <a:spcBef>
                <a:spcPts val="0"/>
              </a:spcBef>
              <a:spcAft>
                <a:spcPts val="0"/>
              </a:spcAft>
              <a:buSzPts val="1400"/>
              <a:buNone/>
              <a:defRPr/>
            </a:lvl9pPr>
          </a:lstStyle>
          <a:p>
            <a:endParaRPr/>
          </a:p>
        </p:txBody>
      </p:sp>
      <p:sp>
        <p:nvSpPr>
          <p:cNvPr id="17" name="Google Shape;17;p28"/>
          <p:cNvSpPr txBox="1">
            <a:spLocks noGrp="1"/>
          </p:cNvSpPr>
          <p:nvPr>
            <p:ph type="ftr" idx="11"/>
          </p:nvPr>
        </p:nvSpPr>
        <p:spPr>
          <a:xfrm>
            <a:off x="1379347" y="5917197"/>
            <a:ext cx="7220584" cy="768984"/>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800" b="1" i="0">
                <a:solidFill>
                  <a:srgbClr val="00006C"/>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28"/>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28"/>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20"/>
        <p:cNvGrpSpPr/>
        <p:nvPr/>
      </p:nvGrpSpPr>
      <p:grpSpPr>
        <a:xfrm>
          <a:off x="0" y="0"/>
          <a:ext cx="0" cy="0"/>
          <a:chOff x="0" y="0"/>
          <a:chExt cx="0" cy="0"/>
        </a:xfrm>
      </p:grpSpPr>
      <p:sp>
        <p:nvSpPr>
          <p:cNvPr id="21" name="Google Shape;21;p29"/>
          <p:cNvSpPr txBox="1">
            <a:spLocks noGrp="1"/>
          </p:cNvSpPr>
          <p:nvPr>
            <p:ph type="ctrTitle"/>
          </p:nvPr>
        </p:nvSpPr>
        <p:spPr>
          <a:xfrm>
            <a:off x="803554" y="214706"/>
            <a:ext cx="7536891" cy="12446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4000" b="1" i="0">
                <a:solidFill>
                  <a:schemeClr val="hlink"/>
                </a:solidFill>
                <a:latin typeface="Century Schoolbook"/>
                <a:ea typeface="Century Schoolbook"/>
                <a:cs typeface="Century Schoolbook"/>
                <a:sym typeface="Century Schoolbook"/>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29"/>
          <p:cNvSpPr txBox="1">
            <a:spLocks noGrp="1"/>
          </p:cNvSpPr>
          <p:nvPr>
            <p:ph type="subTitle" idx="1"/>
          </p:nvPr>
        </p:nvSpPr>
        <p:spPr>
          <a:xfrm>
            <a:off x="1371600" y="3840480"/>
            <a:ext cx="6400800" cy="17145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29"/>
          <p:cNvSpPr txBox="1">
            <a:spLocks noGrp="1"/>
          </p:cNvSpPr>
          <p:nvPr>
            <p:ph type="ftr" idx="11"/>
          </p:nvPr>
        </p:nvSpPr>
        <p:spPr>
          <a:xfrm>
            <a:off x="1379347" y="5917197"/>
            <a:ext cx="7220584" cy="768984"/>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sz="1800" b="1" i="0">
                <a:solidFill>
                  <a:srgbClr val="00006C"/>
                </a:solidFill>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29"/>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1400"/>
              <a:buNone/>
              <a:defRPr>
                <a:solidFill>
                  <a:srgbClr val="888888"/>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29"/>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extLst>
      <p:ext uri="{BB962C8B-B14F-4D97-AF65-F5344CB8AC3E}">
        <p14:creationId xmlns:p14="http://schemas.microsoft.com/office/powerpoint/2010/main" val="181311329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7"/>
          <p:cNvSpPr/>
          <p:nvPr/>
        </p:nvSpPr>
        <p:spPr>
          <a:xfrm>
            <a:off x="0" y="5816578"/>
            <a:ext cx="1062142" cy="1041418"/>
          </a:xfrm>
          <a:prstGeom prst="rect">
            <a:avLst/>
          </a:prstGeom>
          <a:blipFill rotWithShape="1">
            <a:blip r:embed="rId4">
              <a:alphaModFix/>
            </a:blip>
            <a:stretch>
              <a:fillRect/>
            </a:stretch>
          </a:blip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7" name="Google Shape;7;p27"/>
          <p:cNvSpPr/>
          <p:nvPr/>
        </p:nvSpPr>
        <p:spPr>
          <a:xfrm>
            <a:off x="0" y="5638800"/>
            <a:ext cx="9144000" cy="152400"/>
          </a:xfrm>
          <a:custGeom>
            <a:avLst/>
            <a:gdLst/>
            <a:ahLst/>
            <a:cxnLst/>
            <a:rect l="l" t="t" r="r" b="b"/>
            <a:pathLst>
              <a:path w="9144000" h="152400" extrusionOk="0">
                <a:moveTo>
                  <a:pt x="0" y="152400"/>
                </a:moveTo>
                <a:lnTo>
                  <a:pt x="9144000" y="152400"/>
                </a:lnTo>
                <a:lnTo>
                  <a:pt x="9144000" y="0"/>
                </a:lnTo>
                <a:lnTo>
                  <a:pt x="0" y="0"/>
                </a:lnTo>
                <a:lnTo>
                  <a:pt x="0" y="152400"/>
                </a:lnTo>
                <a:close/>
              </a:path>
            </a:pathLst>
          </a:custGeom>
          <a:solidFill>
            <a:srgbClr val="00006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8" name="Google Shape;8;p27"/>
          <p:cNvSpPr/>
          <p:nvPr/>
        </p:nvSpPr>
        <p:spPr>
          <a:xfrm>
            <a:off x="0" y="5638800"/>
            <a:ext cx="9144000" cy="152400"/>
          </a:xfrm>
          <a:custGeom>
            <a:avLst/>
            <a:gdLst/>
            <a:ahLst/>
            <a:cxnLst/>
            <a:rect l="l" t="t" r="r" b="b"/>
            <a:pathLst>
              <a:path w="9144000" h="152400" extrusionOk="0">
                <a:moveTo>
                  <a:pt x="0" y="152400"/>
                </a:moveTo>
                <a:lnTo>
                  <a:pt x="9144000" y="152400"/>
                </a:lnTo>
                <a:lnTo>
                  <a:pt x="9144000" y="0"/>
                </a:lnTo>
                <a:lnTo>
                  <a:pt x="0" y="0"/>
                </a:lnTo>
                <a:lnTo>
                  <a:pt x="0" y="152400"/>
                </a:lnTo>
                <a:close/>
              </a:path>
            </a:pathLst>
          </a:custGeom>
          <a:noFill/>
          <a:ln w="9525"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9" name="Google Shape;9;p27"/>
          <p:cNvSpPr txBox="1">
            <a:spLocks noGrp="1"/>
          </p:cNvSpPr>
          <p:nvPr>
            <p:ph type="title"/>
          </p:nvPr>
        </p:nvSpPr>
        <p:spPr>
          <a:xfrm>
            <a:off x="1753870" y="482930"/>
            <a:ext cx="5636259" cy="69723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4400" b="1" i="0" u="none" strike="noStrike" cap="none">
                <a:solidFill>
                  <a:schemeClr val="hlink"/>
                </a:solidFill>
                <a:latin typeface="Century Schoolbook"/>
                <a:ea typeface="Century Schoolbook"/>
                <a:cs typeface="Century Schoolbook"/>
                <a:sym typeface="Century Schoolbook"/>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 name="Google Shape;10;p27"/>
          <p:cNvSpPr txBox="1">
            <a:spLocks noGrp="1"/>
          </p:cNvSpPr>
          <p:nvPr>
            <p:ph type="body" idx="1"/>
          </p:nvPr>
        </p:nvSpPr>
        <p:spPr>
          <a:xfrm>
            <a:off x="535940" y="1570180"/>
            <a:ext cx="8073390" cy="3409315"/>
          </a:xfrm>
          <a:prstGeom prst="rect">
            <a:avLst/>
          </a:prstGeom>
          <a:noFill/>
          <a:ln>
            <a:noFill/>
          </a:ln>
        </p:spPr>
        <p:txBody>
          <a:bodyPr spcFirstLastPara="1" wrap="square" lIns="0" tIns="0" rIns="0" bIns="0" anchor="t" anchorCtr="0">
            <a:spAutoFit/>
          </a:bodyPr>
          <a:lstStyle>
            <a:lvl1pPr marL="457200" marR="0" lvl="0" indent="-228600" algn="l" rtl="0">
              <a:lnSpc>
                <a:spcPct val="100000"/>
              </a:lnSpc>
              <a:spcBef>
                <a:spcPts val="0"/>
              </a:spcBef>
              <a:spcAft>
                <a:spcPts val="0"/>
              </a:spcAft>
              <a:buClr>
                <a:srgbClr val="000000"/>
              </a:buClr>
              <a:buSzPts val="1400"/>
              <a:buFont typeface="Arial"/>
              <a:buNone/>
              <a:defRPr sz="2400" b="0" i="0" u="none" strike="noStrike" cap="none">
                <a:solidFill>
                  <a:schemeClr val="dk1"/>
                </a:solidFill>
                <a:latin typeface="Century Schoolbook"/>
                <a:ea typeface="Century Schoolbook"/>
                <a:cs typeface="Century Schoolbook"/>
                <a:sym typeface="Century Schoolbook"/>
              </a:defRPr>
            </a:lvl1pPr>
            <a:lvl2pPr marL="914400" marR="0" lvl="1"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Calibri"/>
                <a:ea typeface="Calibri"/>
                <a:cs typeface="Calibri"/>
                <a:sym typeface="Calibri"/>
              </a:defRPr>
            </a:lvl9pPr>
          </a:lstStyle>
          <a:p>
            <a:endParaRPr/>
          </a:p>
        </p:txBody>
      </p:sp>
      <p:sp>
        <p:nvSpPr>
          <p:cNvPr id="11" name="Google Shape;11;p27"/>
          <p:cNvSpPr txBox="1">
            <a:spLocks noGrp="1"/>
          </p:cNvSpPr>
          <p:nvPr>
            <p:ph type="ftr" idx="11"/>
          </p:nvPr>
        </p:nvSpPr>
        <p:spPr>
          <a:xfrm>
            <a:off x="1379347" y="5917197"/>
            <a:ext cx="7220584" cy="768984"/>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800" b="1" i="0" u="none" strike="noStrike" cap="none">
                <a:solidFill>
                  <a:srgbClr val="00006C"/>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2" name="Google Shape;12;p27"/>
          <p:cNvSpPr txBox="1">
            <a:spLocks noGrp="1"/>
          </p:cNvSpPr>
          <p:nvPr>
            <p:ph type="dt" idx="10"/>
          </p:nvPr>
        </p:nvSpPr>
        <p:spPr>
          <a:xfrm>
            <a:off x="457200" y="6377940"/>
            <a:ext cx="2103120" cy="3429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27"/>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lvl1pPr marL="0" marR="0" lvl="0"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800"/>
              <a:buFont typeface="Arial"/>
              <a:buNone/>
              <a:defRPr sz="18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4"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3.jp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5"/>
        <p:cNvGrpSpPr/>
        <p:nvPr/>
      </p:nvGrpSpPr>
      <p:grpSpPr>
        <a:xfrm>
          <a:off x="0" y="0"/>
          <a:ext cx="0" cy="0"/>
          <a:chOff x="0" y="0"/>
          <a:chExt cx="0" cy="0"/>
        </a:xfrm>
      </p:grpSpPr>
      <p:sp>
        <p:nvSpPr>
          <p:cNvPr id="46" name="Google Shape;46;p2"/>
          <p:cNvSpPr txBox="1"/>
          <p:nvPr/>
        </p:nvSpPr>
        <p:spPr>
          <a:xfrm>
            <a:off x="999854" y="5986743"/>
            <a:ext cx="7496601" cy="672897"/>
          </a:xfrm>
          <a:prstGeom prst="rect">
            <a:avLst/>
          </a:prstGeom>
          <a:noFill/>
          <a:ln>
            <a:noFill/>
          </a:ln>
        </p:spPr>
        <p:txBody>
          <a:bodyPr spcFirstLastPara="1" wrap="square" lIns="0" tIns="12700" rIns="0" bIns="0" anchor="t" anchorCtr="0">
            <a:noAutofit/>
          </a:bodyPr>
          <a:lstStyle/>
          <a:p>
            <a:pPr marL="12700" marR="0" lvl="0" indent="0" algn="ctr" rtl="0">
              <a:lnSpc>
                <a:spcPct val="100000"/>
              </a:lnSpc>
              <a:spcBef>
                <a:spcPts val="0"/>
              </a:spcBef>
              <a:spcAft>
                <a:spcPts val="0"/>
              </a:spcAft>
              <a:buClr>
                <a:srgbClr val="000000"/>
              </a:buClr>
              <a:buSzPts val="1800"/>
              <a:buFont typeface="Arial"/>
              <a:buNone/>
            </a:pPr>
            <a:r>
              <a:rPr lang="en-US" sz="1800" b="1" i="1" u="none" strike="noStrike" cap="none" dirty="0">
                <a:solidFill>
                  <a:srgbClr val="C00000"/>
                </a:solidFill>
                <a:latin typeface="Times New Roman"/>
                <a:ea typeface="Times New Roman"/>
                <a:cs typeface="Times New Roman"/>
                <a:sym typeface="Times New Roman"/>
              </a:rPr>
              <a:t>Department of Information Technology, </a:t>
            </a:r>
            <a:r>
              <a:rPr lang="en-US" sz="1800" b="1" i="1" u="none" strike="noStrike" cap="none" dirty="0" err="1">
                <a:solidFill>
                  <a:srgbClr val="C00000"/>
                </a:solidFill>
                <a:latin typeface="Times New Roman"/>
                <a:ea typeface="Times New Roman"/>
                <a:cs typeface="Times New Roman"/>
                <a:sym typeface="Times New Roman"/>
              </a:rPr>
              <a:t>MITSoC</a:t>
            </a:r>
            <a:r>
              <a:rPr lang="en-US" sz="1800" b="1" i="1" u="none" strike="noStrike" cap="none" dirty="0">
                <a:solidFill>
                  <a:srgbClr val="C00000"/>
                </a:solidFill>
                <a:latin typeface="Times New Roman"/>
                <a:ea typeface="Times New Roman"/>
                <a:cs typeface="Times New Roman"/>
                <a:sym typeface="Times New Roman"/>
              </a:rPr>
              <a:t>, Loni </a:t>
            </a:r>
            <a:r>
              <a:rPr lang="en-US" sz="1800" b="1" i="1" u="none" strike="noStrike" cap="none" dirty="0" err="1">
                <a:solidFill>
                  <a:srgbClr val="C00000"/>
                </a:solidFill>
                <a:latin typeface="Times New Roman"/>
                <a:ea typeface="Times New Roman"/>
                <a:cs typeface="Times New Roman"/>
                <a:sym typeface="Times New Roman"/>
              </a:rPr>
              <a:t>Kalbhor</a:t>
            </a:r>
            <a:endParaRPr sz="1800" b="1" i="1" u="none" strike="noStrike" cap="none" dirty="0">
              <a:solidFill>
                <a:srgbClr val="C00000"/>
              </a:solidFill>
              <a:latin typeface="Times New Roman"/>
              <a:ea typeface="Times New Roman"/>
              <a:cs typeface="Times New Roman"/>
              <a:sym typeface="Times New Roman"/>
            </a:endParaRPr>
          </a:p>
        </p:txBody>
      </p:sp>
      <p:sp>
        <p:nvSpPr>
          <p:cNvPr id="47" name="Google Shape;47;p2"/>
          <p:cNvSpPr/>
          <p:nvPr/>
        </p:nvSpPr>
        <p:spPr>
          <a:xfrm>
            <a:off x="2514600" y="3840480"/>
            <a:ext cx="3733800" cy="338700"/>
          </a:xfrm>
          <a:prstGeom prst="rect">
            <a:avLst/>
          </a:prstGeom>
          <a:noFill/>
          <a:ln>
            <a:noFill/>
          </a:ln>
        </p:spPr>
        <p:txBody>
          <a:bodyPr spcFirstLastPara="1" wrap="square" lIns="91425" tIns="45700" rIns="91425" bIns="45700" anchor="t" anchorCtr="0">
            <a:noAutofit/>
          </a:bodyPr>
          <a:lstStyle/>
          <a:p>
            <a:pPr marL="639762" marR="0" lvl="0" indent="-519112"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sp>
        <p:nvSpPr>
          <p:cNvPr id="49" name="Google Shape;49;p2"/>
          <p:cNvSpPr txBox="1"/>
          <p:nvPr/>
        </p:nvSpPr>
        <p:spPr>
          <a:xfrm>
            <a:off x="633150" y="2497436"/>
            <a:ext cx="7496700" cy="2185173"/>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000" b="1" dirty="0">
                <a:latin typeface="Times New Roman"/>
                <a:ea typeface="Times New Roman"/>
                <a:cs typeface="Times New Roman"/>
                <a:sym typeface="Times New Roman"/>
              </a:rPr>
              <a:t>   ADT23SOCB1504:- Abhijeet </a:t>
            </a:r>
            <a:r>
              <a:rPr lang="en-US" sz="2000" b="1" dirty="0" err="1">
                <a:latin typeface="Times New Roman"/>
                <a:ea typeface="Times New Roman"/>
                <a:cs typeface="Times New Roman"/>
                <a:sym typeface="Times New Roman"/>
              </a:rPr>
              <a:t>Shirke</a:t>
            </a:r>
            <a:endParaRPr lang="en-US" sz="2000" b="1" dirty="0">
              <a:latin typeface="Times New Roman"/>
              <a:ea typeface="Times New Roman"/>
              <a:cs typeface="Times New Roman"/>
              <a:sym typeface="Times New Roman"/>
            </a:endParaRPr>
          </a:p>
          <a:p>
            <a:pPr marL="0" marR="0" lvl="0" indent="0" algn="ctr" rtl="0">
              <a:lnSpc>
                <a:spcPct val="100000"/>
              </a:lnSpc>
              <a:spcBef>
                <a:spcPts val="0"/>
              </a:spcBef>
              <a:spcAft>
                <a:spcPts val="0"/>
              </a:spcAft>
              <a:buNone/>
            </a:pPr>
            <a:r>
              <a:rPr lang="en-US" sz="2000" b="1" dirty="0">
                <a:latin typeface="Times New Roman"/>
                <a:ea typeface="Times New Roman"/>
                <a:cs typeface="Times New Roman"/>
                <a:sym typeface="Times New Roman"/>
              </a:rPr>
              <a:t>ADT23SOCB0625:- </a:t>
            </a:r>
            <a:r>
              <a:rPr lang="en-US" sz="2000" b="1" dirty="0" err="1">
                <a:latin typeface="Times New Roman"/>
                <a:ea typeface="Times New Roman"/>
                <a:cs typeface="Times New Roman"/>
                <a:sym typeface="Times New Roman"/>
              </a:rPr>
              <a:t>Mrunali</a:t>
            </a:r>
            <a:r>
              <a:rPr lang="en-US" sz="2000" b="1" dirty="0">
                <a:latin typeface="Times New Roman"/>
                <a:ea typeface="Times New Roman"/>
                <a:cs typeface="Times New Roman"/>
                <a:sym typeface="Times New Roman"/>
              </a:rPr>
              <a:t> Patil</a:t>
            </a:r>
          </a:p>
          <a:p>
            <a:pPr marL="0" marR="0" lvl="0" indent="0" algn="ctr" rtl="0">
              <a:lnSpc>
                <a:spcPct val="100000"/>
              </a:lnSpc>
              <a:spcBef>
                <a:spcPts val="0"/>
              </a:spcBef>
              <a:spcAft>
                <a:spcPts val="0"/>
              </a:spcAft>
              <a:buNone/>
            </a:pPr>
            <a:r>
              <a:rPr lang="en-US" sz="2000" b="1" dirty="0">
                <a:latin typeface="Times New Roman"/>
                <a:ea typeface="Times New Roman"/>
                <a:cs typeface="Times New Roman"/>
                <a:sym typeface="Times New Roman"/>
              </a:rPr>
              <a:t>   ADT23SOCB1592</a:t>
            </a:r>
            <a:r>
              <a:rPr lang="en-US" sz="2000" b="1" dirty="0">
                <a:solidFill>
                  <a:srgbClr val="2F2F2F"/>
                </a:solidFill>
                <a:effectLst/>
                <a:highlight>
                  <a:srgbClr val="FFFFFF"/>
                </a:highlight>
                <a:latin typeface="Times New Roman"/>
                <a:ea typeface="Times New Roman" panose="02020603050405020304" pitchFamily="18" charset="0"/>
                <a:cs typeface="Times New Roman"/>
                <a:sym typeface="Times New Roman"/>
              </a:rPr>
              <a:t>:- J</a:t>
            </a:r>
            <a:r>
              <a:rPr lang="en-US" sz="2000" b="1" dirty="0">
                <a:solidFill>
                  <a:srgbClr val="2F2F2F"/>
                </a:solidFill>
                <a:highlight>
                  <a:srgbClr val="FFFFFF"/>
                </a:highlight>
                <a:latin typeface="Times New Roman"/>
                <a:ea typeface="Times New Roman" panose="02020603050405020304" pitchFamily="18" charset="0"/>
                <a:cs typeface="Times New Roman"/>
                <a:sym typeface="Times New Roman"/>
              </a:rPr>
              <a:t>agruti </a:t>
            </a:r>
            <a:r>
              <a:rPr lang="en-US" sz="2000" b="1" dirty="0" err="1">
                <a:solidFill>
                  <a:srgbClr val="2F2F2F"/>
                </a:solidFill>
                <a:highlight>
                  <a:srgbClr val="FFFFFF"/>
                </a:highlight>
                <a:latin typeface="Times New Roman"/>
                <a:ea typeface="Times New Roman" panose="02020603050405020304" pitchFamily="18" charset="0"/>
                <a:cs typeface="Times New Roman"/>
                <a:sym typeface="Times New Roman"/>
              </a:rPr>
              <a:t>Ghonge</a:t>
            </a:r>
            <a:endParaRPr lang="en-US" sz="2000" b="1" dirty="0">
              <a:solidFill>
                <a:srgbClr val="2F2F2F"/>
              </a:solidFill>
              <a:highlight>
                <a:srgbClr val="FFFFFF"/>
              </a:highlight>
              <a:latin typeface="Times New Roman"/>
              <a:ea typeface="Times New Roman" panose="02020603050405020304" pitchFamily="18" charset="0"/>
              <a:cs typeface="Times New Roman"/>
              <a:sym typeface="Times New Roman"/>
            </a:endParaRPr>
          </a:p>
          <a:p>
            <a:pPr marL="0" marR="0" lvl="0" indent="0" algn="ctr" rtl="0">
              <a:lnSpc>
                <a:spcPct val="100000"/>
              </a:lnSpc>
              <a:spcBef>
                <a:spcPts val="0"/>
              </a:spcBef>
              <a:spcAft>
                <a:spcPts val="0"/>
              </a:spcAft>
              <a:buNone/>
            </a:pPr>
            <a:r>
              <a:rPr lang="en-US" sz="2000" b="1" dirty="0">
                <a:solidFill>
                  <a:srgbClr val="2F2F2F"/>
                </a:solidFill>
                <a:highlight>
                  <a:srgbClr val="FFFFFF"/>
                </a:highlight>
                <a:latin typeface="Times New Roman"/>
                <a:ea typeface="Times New Roman"/>
                <a:cs typeface="Times New Roman"/>
                <a:sym typeface="Times New Roman"/>
              </a:rPr>
              <a:t>ADT23SOCB1506:- Anas Shaikh </a:t>
            </a:r>
            <a:endParaRPr sz="2000" b="1" dirty="0">
              <a:latin typeface="Times New Roman"/>
              <a:ea typeface="Times New Roman"/>
              <a:cs typeface="Times New Roman"/>
              <a:sym typeface="Times New Roman"/>
            </a:endParaRPr>
          </a:p>
          <a:p>
            <a:pPr marL="0" marR="0" lvl="0" indent="0" algn="ctr" rtl="0">
              <a:lnSpc>
                <a:spcPct val="100000"/>
              </a:lnSpc>
              <a:spcBef>
                <a:spcPts val="0"/>
              </a:spcBef>
              <a:spcAft>
                <a:spcPts val="0"/>
              </a:spcAft>
              <a:buNone/>
            </a:pPr>
            <a:r>
              <a:rPr lang="en-US" sz="2000" b="1" dirty="0">
                <a:latin typeface="Times New Roman"/>
                <a:ea typeface="Times New Roman"/>
                <a:cs typeface="Times New Roman"/>
                <a:sym typeface="Times New Roman"/>
              </a:rPr>
              <a:t>Guided by</a:t>
            </a:r>
            <a:endParaRPr sz="2000" b="1" dirty="0">
              <a:latin typeface="Times New Roman"/>
              <a:ea typeface="Times New Roman"/>
              <a:cs typeface="Times New Roman"/>
              <a:sym typeface="Times New Roman"/>
            </a:endParaRPr>
          </a:p>
          <a:p>
            <a:pPr marL="0" marR="0" lvl="0" indent="0" algn="ctr" rtl="0">
              <a:lnSpc>
                <a:spcPct val="100000"/>
              </a:lnSpc>
              <a:spcBef>
                <a:spcPts val="0"/>
              </a:spcBef>
              <a:spcAft>
                <a:spcPts val="0"/>
              </a:spcAft>
              <a:buNone/>
            </a:pPr>
            <a:endParaRPr sz="1600" b="1" dirty="0">
              <a:latin typeface="Times New Roman"/>
              <a:ea typeface="Times New Roman"/>
              <a:cs typeface="Times New Roman"/>
              <a:sym typeface="Times New Roman"/>
            </a:endParaRPr>
          </a:p>
          <a:p>
            <a:pPr marL="0" marR="0" lvl="0" indent="0" algn="ctr" rtl="0">
              <a:lnSpc>
                <a:spcPct val="100000"/>
              </a:lnSpc>
              <a:spcBef>
                <a:spcPts val="0"/>
              </a:spcBef>
              <a:spcAft>
                <a:spcPts val="0"/>
              </a:spcAft>
              <a:buNone/>
            </a:pPr>
            <a:r>
              <a:rPr lang="en-US" sz="2000" b="1" dirty="0">
                <a:latin typeface="Times New Roman"/>
                <a:ea typeface="Times New Roman"/>
                <a:cs typeface="Times New Roman"/>
                <a:sym typeface="Times New Roman"/>
              </a:rPr>
              <a:t>Prof. Palash Sontakke (Information Technology)</a:t>
            </a:r>
            <a:endParaRPr sz="2000" b="1" dirty="0">
              <a:latin typeface="Times New Roman"/>
              <a:ea typeface="Times New Roman"/>
              <a:cs typeface="Times New Roman"/>
              <a:sym typeface="Times New Roman"/>
            </a:endParaRPr>
          </a:p>
        </p:txBody>
      </p:sp>
      <p:sp>
        <p:nvSpPr>
          <p:cNvPr id="50" name="Google Shape;50;p2"/>
          <p:cNvSpPr txBox="1"/>
          <p:nvPr/>
        </p:nvSpPr>
        <p:spPr>
          <a:xfrm>
            <a:off x="999854" y="927816"/>
            <a:ext cx="6885617" cy="15696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3200" b="1" i="0" u="none" strike="noStrike" cap="none" dirty="0">
                <a:solidFill>
                  <a:srgbClr val="000000"/>
                </a:solidFill>
                <a:latin typeface="Times New Roman"/>
                <a:ea typeface="Times New Roman"/>
                <a:cs typeface="Times New Roman"/>
                <a:sym typeface="Times New Roman"/>
              </a:rPr>
              <a:t>Project Presentation</a:t>
            </a:r>
          </a:p>
          <a:p>
            <a:pPr lvl="0" algn="ctr"/>
            <a:r>
              <a:rPr lang="en-US" sz="3200" b="1" dirty="0">
                <a:latin typeface="Times New Roman"/>
                <a:cs typeface="Times New Roman"/>
                <a:sym typeface="Times New Roman"/>
              </a:rPr>
              <a:t>“</a:t>
            </a:r>
            <a:r>
              <a:rPr lang="en-IN" sz="2400" b="1" dirty="0">
                <a:latin typeface="Times New Roman" panose="02020603050405020304" pitchFamily="18" charset="0"/>
                <a:cs typeface="Times New Roman" panose="02020603050405020304" pitchFamily="18" charset="0"/>
              </a:rPr>
              <a:t>Personalized Academic &amp; Career Roadmap Platform</a:t>
            </a:r>
            <a:r>
              <a:rPr lang="en-US" sz="3200" b="1" dirty="0">
                <a:latin typeface="Times New Roman"/>
                <a:cs typeface="Times New Roman"/>
                <a:sym typeface="Times New Roman"/>
              </a:rPr>
              <a:t>”</a:t>
            </a:r>
            <a:endParaRPr dirty="0"/>
          </a:p>
        </p:txBody>
      </p:sp>
      <p:pic>
        <p:nvPicPr>
          <p:cNvPr id="51" name="Google Shape;51;p2"/>
          <p:cNvPicPr preferRelativeResize="0"/>
          <p:nvPr/>
        </p:nvPicPr>
        <p:blipFill rotWithShape="1">
          <a:blip r:embed="rId3">
            <a:alphaModFix/>
          </a:blip>
          <a:srcRect/>
          <a:stretch/>
        </p:blipFill>
        <p:spPr>
          <a:xfrm>
            <a:off x="0" y="5812967"/>
            <a:ext cx="999854" cy="102045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g5cc8714c89_0_4"/>
          <p:cNvSpPr txBox="1">
            <a:spLocks noGrp="1"/>
          </p:cNvSpPr>
          <p:nvPr>
            <p:ph type="title"/>
          </p:nvPr>
        </p:nvSpPr>
        <p:spPr>
          <a:xfrm>
            <a:off x="830592" y="408046"/>
            <a:ext cx="6932100" cy="5541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r>
              <a:rPr lang="en-US" sz="2800">
                <a:solidFill>
                  <a:srgbClr val="073763"/>
                </a:solidFill>
                <a:latin typeface="Times New Roman"/>
                <a:ea typeface="Times New Roman"/>
                <a:cs typeface="Times New Roman"/>
                <a:sym typeface="Times New Roman"/>
              </a:rPr>
              <a:t>Outline</a:t>
            </a:r>
            <a:endParaRPr>
              <a:solidFill>
                <a:srgbClr val="073763"/>
              </a:solidFill>
            </a:endParaRPr>
          </a:p>
        </p:txBody>
      </p:sp>
      <p:sp>
        <p:nvSpPr>
          <p:cNvPr id="57" name="Google Shape;57;g5cc8714c89_0_4"/>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800"/>
              <a:buNone/>
            </a:pPr>
            <a:fld id="{00000000-1234-1234-1234-123412341234}" type="slidenum">
              <a:rPr lang="en-US"/>
              <a:t>2</a:t>
            </a:fld>
            <a:endParaRPr/>
          </a:p>
        </p:txBody>
      </p:sp>
      <p:sp>
        <p:nvSpPr>
          <p:cNvPr id="58" name="Google Shape;58;g5cc8714c89_0_4"/>
          <p:cNvSpPr txBox="1"/>
          <p:nvPr/>
        </p:nvSpPr>
        <p:spPr>
          <a:xfrm>
            <a:off x="1210395" y="6055940"/>
            <a:ext cx="7468795" cy="672919"/>
          </a:xfrm>
          <a:prstGeom prst="rect">
            <a:avLst/>
          </a:prstGeom>
          <a:noFill/>
          <a:ln>
            <a:noFill/>
          </a:ln>
        </p:spPr>
        <p:txBody>
          <a:bodyPr spcFirstLastPara="1" wrap="square" lIns="0" tIns="12700" rIns="0" bIns="0" anchor="t" anchorCtr="0">
            <a:noAutofit/>
          </a:bodyPr>
          <a:lstStyle/>
          <a:p>
            <a:pPr marL="12700" algn="ctr">
              <a:buSzPts val="1800"/>
            </a:pPr>
            <a:r>
              <a:rPr lang="en-US" sz="1800" b="1" i="1" u="none" strike="noStrike" cap="none" dirty="0">
                <a:solidFill>
                  <a:srgbClr val="C00000"/>
                </a:solidFill>
                <a:latin typeface="Times New Roman"/>
                <a:ea typeface="Times New Roman"/>
                <a:cs typeface="Times New Roman"/>
                <a:sym typeface="Times New Roman"/>
              </a:rPr>
              <a:t>Department of Information Technology, MITS0C, Loni </a:t>
            </a:r>
            <a:r>
              <a:rPr lang="en-US" sz="1800" b="1" i="1" u="none" strike="noStrike" cap="none" dirty="0" err="1">
                <a:solidFill>
                  <a:srgbClr val="C00000"/>
                </a:solidFill>
                <a:latin typeface="Times New Roman"/>
                <a:ea typeface="Times New Roman"/>
                <a:cs typeface="Times New Roman"/>
                <a:sym typeface="Times New Roman"/>
              </a:rPr>
              <a:t>Kalbhor</a:t>
            </a:r>
            <a:endParaRPr lang="en-US" sz="1800" b="1" i="1" u="none" strike="noStrike" cap="none" dirty="0">
              <a:solidFill>
                <a:srgbClr val="C00000"/>
              </a:solidFill>
              <a:latin typeface="Times New Roman"/>
              <a:ea typeface="Times New Roman"/>
              <a:cs typeface="Times New Roman"/>
              <a:sym typeface="Times New Roman"/>
            </a:endParaRPr>
          </a:p>
          <a:p>
            <a:pPr marL="12700" marR="0" lvl="0" indent="0" algn="ctr" rtl="0">
              <a:lnSpc>
                <a:spcPct val="100000"/>
              </a:lnSpc>
              <a:spcBef>
                <a:spcPts val="0"/>
              </a:spcBef>
              <a:spcAft>
                <a:spcPts val="0"/>
              </a:spcAft>
              <a:buClr>
                <a:srgbClr val="000000"/>
              </a:buClr>
              <a:buSzPts val="1800"/>
              <a:buFont typeface="Arial"/>
              <a:buNone/>
            </a:pPr>
            <a:endParaRPr sz="1800" b="1" i="1" u="none" strike="noStrike" cap="none" dirty="0">
              <a:solidFill>
                <a:srgbClr val="C00000"/>
              </a:solidFill>
              <a:latin typeface="Times New Roman"/>
              <a:ea typeface="Times New Roman"/>
              <a:cs typeface="Times New Roman"/>
              <a:sym typeface="Times New Roman"/>
            </a:endParaRPr>
          </a:p>
        </p:txBody>
      </p:sp>
      <p:pic>
        <p:nvPicPr>
          <p:cNvPr id="59" name="Google Shape;59;g5cc8714c89_0_4"/>
          <p:cNvPicPr preferRelativeResize="0"/>
          <p:nvPr/>
        </p:nvPicPr>
        <p:blipFill rotWithShape="1">
          <a:blip r:embed="rId3">
            <a:alphaModFix/>
          </a:blip>
          <a:srcRect/>
          <a:stretch/>
        </p:blipFill>
        <p:spPr>
          <a:xfrm>
            <a:off x="0" y="5812967"/>
            <a:ext cx="999854" cy="1020451"/>
          </a:xfrm>
          <a:prstGeom prst="rect">
            <a:avLst/>
          </a:prstGeom>
          <a:noFill/>
          <a:ln>
            <a:noFill/>
          </a:ln>
        </p:spPr>
      </p:pic>
      <p:sp>
        <p:nvSpPr>
          <p:cNvPr id="60" name="Google Shape;60;g5cc8714c89_0_4"/>
          <p:cNvSpPr txBox="1"/>
          <p:nvPr/>
        </p:nvSpPr>
        <p:spPr>
          <a:xfrm>
            <a:off x="647700" y="1123140"/>
            <a:ext cx="7848600" cy="4771800"/>
          </a:xfrm>
          <a:prstGeom prst="rect">
            <a:avLst/>
          </a:prstGeom>
          <a:noFill/>
          <a:ln>
            <a:noFill/>
          </a:ln>
        </p:spPr>
        <p:txBody>
          <a:bodyPr spcFirstLastPara="1" wrap="square" lIns="91425" tIns="91425" rIns="91425" bIns="91425" anchor="t" anchorCtr="0">
            <a:noAutofit/>
          </a:bodyPr>
          <a:lstStyle/>
          <a:p>
            <a:pPr marL="457200" marR="0" lvl="0" indent="-368300" algn="just" rtl="0">
              <a:lnSpc>
                <a:spcPct val="100000"/>
              </a:lnSpc>
              <a:spcBef>
                <a:spcPts val="0"/>
              </a:spcBef>
              <a:spcAft>
                <a:spcPts val="0"/>
              </a:spcAft>
              <a:buClr>
                <a:schemeClr val="dk1"/>
              </a:buClr>
              <a:buSzPts val="2200"/>
              <a:buFont typeface="Times New Roman"/>
              <a:buChar char="●"/>
            </a:pPr>
            <a:r>
              <a:rPr lang="en-US" sz="2200" dirty="0">
                <a:solidFill>
                  <a:schemeClr val="dk1"/>
                </a:solidFill>
                <a:latin typeface="Times New Roman" panose="02020603050405020304" pitchFamily="18" charset="0"/>
                <a:ea typeface="Times New Roman"/>
                <a:cs typeface="Times New Roman" panose="02020603050405020304" pitchFamily="18" charset="0"/>
                <a:sym typeface="Times New Roman"/>
              </a:rPr>
              <a:t>Introduction</a:t>
            </a:r>
            <a:endParaRPr sz="22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457200" marR="0" lvl="0" indent="-368300" algn="just" rtl="0">
              <a:lnSpc>
                <a:spcPct val="100000"/>
              </a:lnSpc>
              <a:spcBef>
                <a:spcPts val="0"/>
              </a:spcBef>
              <a:spcAft>
                <a:spcPts val="0"/>
              </a:spcAft>
              <a:buClr>
                <a:schemeClr val="dk1"/>
              </a:buClr>
              <a:buSzPts val="2200"/>
              <a:buFont typeface="Times New Roman"/>
              <a:buChar char="●"/>
            </a:pPr>
            <a:r>
              <a:rPr lang="en-US" sz="2200" dirty="0">
                <a:solidFill>
                  <a:schemeClr val="dk1"/>
                </a:solidFill>
                <a:latin typeface="Times New Roman" panose="02020603050405020304" pitchFamily="18" charset="0"/>
                <a:ea typeface="Times New Roman"/>
                <a:cs typeface="Times New Roman" panose="02020603050405020304" pitchFamily="18" charset="0"/>
                <a:sym typeface="Times New Roman"/>
              </a:rPr>
              <a:t>Problem Statement</a:t>
            </a:r>
            <a:endParaRPr sz="22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457200" marR="0" lvl="0" indent="-368300" algn="just" rtl="0">
              <a:lnSpc>
                <a:spcPct val="100000"/>
              </a:lnSpc>
              <a:spcBef>
                <a:spcPts val="0"/>
              </a:spcBef>
              <a:spcAft>
                <a:spcPts val="0"/>
              </a:spcAft>
              <a:buClr>
                <a:schemeClr val="dk1"/>
              </a:buClr>
              <a:buSzPts val="2200"/>
              <a:buFont typeface="Times New Roman"/>
              <a:buChar char="●"/>
            </a:pPr>
            <a:r>
              <a:rPr lang="en-US" sz="2200" dirty="0">
                <a:solidFill>
                  <a:schemeClr val="dk1"/>
                </a:solidFill>
                <a:latin typeface="Times New Roman" panose="02020603050405020304" pitchFamily="18" charset="0"/>
                <a:ea typeface="Times New Roman"/>
                <a:cs typeface="Times New Roman" panose="02020603050405020304" pitchFamily="18" charset="0"/>
                <a:sym typeface="Times New Roman"/>
              </a:rPr>
              <a:t>Objectives</a:t>
            </a:r>
            <a:endParaRPr sz="22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457200" marR="0" lvl="0" indent="-368300" algn="just" rtl="0">
              <a:lnSpc>
                <a:spcPct val="100000"/>
              </a:lnSpc>
              <a:spcBef>
                <a:spcPts val="0"/>
              </a:spcBef>
              <a:spcAft>
                <a:spcPts val="0"/>
              </a:spcAft>
              <a:buClr>
                <a:schemeClr val="dk1"/>
              </a:buClr>
              <a:buSzPts val="2200"/>
              <a:buFont typeface="Times New Roman"/>
              <a:buChar char="●"/>
            </a:pPr>
            <a:r>
              <a:rPr lang="en-US" sz="2200" dirty="0">
                <a:solidFill>
                  <a:schemeClr val="dk1"/>
                </a:solidFill>
                <a:latin typeface="Times New Roman" panose="02020603050405020304" pitchFamily="18" charset="0"/>
                <a:ea typeface="Times New Roman"/>
                <a:cs typeface="Times New Roman" panose="02020603050405020304" pitchFamily="18" charset="0"/>
                <a:sym typeface="Times New Roman"/>
              </a:rPr>
              <a:t>Concepts &amp; Methods</a:t>
            </a:r>
            <a:endParaRPr sz="22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457200" marR="0" lvl="0" indent="-368300" algn="just" rtl="0">
              <a:lnSpc>
                <a:spcPct val="100000"/>
              </a:lnSpc>
              <a:spcBef>
                <a:spcPts val="0"/>
              </a:spcBef>
              <a:spcAft>
                <a:spcPts val="0"/>
              </a:spcAft>
              <a:buClr>
                <a:schemeClr val="dk1"/>
              </a:buClr>
              <a:buSzPts val="2200"/>
              <a:buFont typeface="Times New Roman"/>
              <a:buChar char="●"/>
            </a:pPr>
            <a:r>
              <a:rPr lang="en-US" sz="2200" dirty="0">
                <a:solidFill>
                  <a:schemeClr val="dk1"/>
                </a:solidFill>
                <a:latin typeface="Times New Roman" panose="02020603050405020304" pitchFamily="18" charset="0"/>
                <a:ea typeface="Times New Roman"/>
                <a:cs typeface="Times New Roman" panose="02020603050405020304" pitchFamily="18" charset="0"/>
                <a:sym typeface="Times New Roman"/>
              </a:rPr>
              <a:t>Literature Review </a:t>
            </a:r>
            <a:endParaRPr sz="22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457200" marR="0" lvl="0" indent="-368300" algn="just" rtl="0">
              <a:lnSpc>
                <a:spcPct val="100000"/>
              </a:lnSpc>
              <a:spcBef>
                <a:spcPts val="0"/>
              </a:spcBef>
              <a:spcAft>
                <a:spcPts val="0"/>
              </a:spcAft>
              <a:buClr>
                <a:schemeClr val="dk1"/>
              </a:buClr>
              <a:buSzPts val="2200"/>
              <a:buFont typeface="Times New Roman"/>
              <a:buChar char="●"/>
            </a:pPr>
            <a:r>
              <a:rPr lang="en-US" sz="2200" dirty="0">
                <a:solidFill>
                  <a:schemeClr val="dk1"/>
                </a:solidFill>
                <a:latin typeface="Times New Roman" panose="02020603050405020304" pitchFamily="18" charset="0"/>
                <a:ea typeface="Times New Roman"/>
                <a:cs typeface="Times New Roman" panose="02020603050405020304" pitchFamily="18" charset="0"/>
                <a:sym typeface="Times New Roman"/>
              </a:rPr>
              <a:t>Identification of gaps &amp; scope of work </a:t>
            </a:r>
            <a:endParaRPr sz="22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457200" marR="0" lvl="0" indent="-368300" algn="just" rtl="0">
              <a:lnSpc>
                <a:spcPct val="100000"/>
              </a:lnSpc>
              <a:spcBef>
                <a:spcPts val="0"/>
              </a:spcBef>
              <a:spcAft>
                <a:spcPts val="0"/>
              </a:spcAft>
              <a:buClr>
                <a:schemeClr val="dk1"/>
              </a:buClr>
              <a:buSzPts val="2200"/>
              <a:buFont typeface="Times New Roman"/>
              <a:buChar char="●"/>
            </a:pPr>
            <a:r>
              <a:rPr lang="en-US" sz="2200" dirty="0">
                <a:solidFill>
                  <a:schemeClr val="dk1"/>
                </a:solidFill>
                <a:latin typeface="Times New Roman" panose="02020603050405020304" pitchFamily="18" charset="0"/>
                <a:ea typeface="Times New Roman"/>
                <a:cs typeface="Times New Roman" panose="02020603050405020304" pitchFamily="18" charset="0"/>
                <a:sym typeface="Times New Roman"/>
              </a:rPr>
              <a:t>Implementation </a:t>
            </a:r>
            <a:endParaRPr sz="22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457200" marR="0" lvl="0" indent="-368300" algn="just" rtl="0">
              <a:lnSpc>
                <a:spcPct val="100000"/>
              </a:lnSpc>
              <a:spcBef>
                <a:spcPts val="0"/>
              </a:spcBef>
              <a:spcAft>
                <a:spcPts val="0"/>
              </a:spcAft>
              <a:buClr>
                <a:schemeClr val="dk1"/>
              </a:buClr>
              <a:buSzPts val="2200"/>
              <a:buFont typeface="Times New Roman"/>
              <a:buChar char="●"/>
            </a:pPr>
            <a:r>
              <a:rPr lang="en-US" sz="2200" dirty="0">
                <a:solidFill>
                  <a:schemeClr val="dk1"/>
                </a:solidFill>
                <a:latin typeface="Times New Roman" panose="02020603050405020304" pitchFamily="18" charset="0"/>
                <a:ea typeface="Times New Roman"/>
                <a:cs typeface="Times New Roman" panose="02020603050405020304" pitchFamily="18" charset="0"/>
                <a:sym typeface="Times New Roman"/>
              </a:rPr>
              <a:t>Reference</a:t>
            </a:r>
            <a:endParaRPr sz="22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457200" marR="0" lvl="0" indent="-368300" algn="just" rtl="0">
              <a:lnSpc>
                <a:spcPct val="100000"/>
              </a:lnSpc>
              <a:spcBef>
                <a:spcPts val="0"/>
              </a:spcBef>
              <a:spcAft>
                <a:spcPts val="0"/>
              </a:spcAft>
              <a:buClr>
                <a:schemeClr val="dk1"/>
              </a:buClr>
              <a:buSzPts val="2200"/>
              <a:buFont typeface="Times New Roman"/>
              <a:buChar char="●"/>
            </a:pPr>
            <a:r>
              <a:rPr lang="en-US" sz="2200" dirty="0">
                <a:solidFill>
                  <a:schemeClr val="dk1"/>
                </a:solidFill>
                <a:latin typeface="Times New Roman" panose="02020603050405020304" pitchFamily="18" charset="0"/>
                <a:ea typeface="Times New Roman"/>
                <a:cs typeface="Times New Roman" panose="02020603050405020304" pitchFamily="18" charset="0"/>
                <a:sym typeface="Times New Roman"/>
              </a:rPr>
              <a:t>Q&amp;A</a:t>
            </a:r>
            <a:endParaRPr sz="22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457200" marR="0" lvl="0" indent="0" algn="just" rtl="0">
              <a:lnSpc>
                <a:spcPct val="100000"/>
              </a:lnSpc>
              <a:spcBef>
                <a:spcPts val="0"/>
              </a:spcBef>
              <a:spcAft>
                <a:spcPts val="0"/>
              </a:spcAft>
              <a:buNone/>
            </a:pPr>
            <a:endParaRPr sz="2200" dirty="0">
              <a:solidFill>
                <a:schemeClr val="dk1"/>
              </a:solidFill>
              <a:latin typeface="Times New Roman"/>
              <a:ea typeface="Times New Roman"/>
              <a:cs typeface="Times New Roman"/>
              <a:sym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4"/>
          <p:cNvSpPr txBox="1">
            <a:spLocks noGrp="1"/>
          </p:cNvSpPr>
          <p:nvPr>
            <p:ph type="sldNum" idx="12"/>
          </p:nvPr>
        </p:nvSpPr>
        <p:spPr>
          <a:xfrm>
            <a:off x="6583680" y="6402522"/>
            <a:ext cx="2103120" cy="3429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800"/>
              <a:buNone/>
            </a:pPr>
            <a:fld id="{00000000-1234-1234-1234-123412341234}" type="slidenum">
              <a:rPr lang="en-US"/>
              <a:t>3</a:t>
            </a:fld>
            <a:endParaRPr/>
          </a:p>
        </p:txBody>
      </p:sp>
      <p:sp>
        <p:nvSpPr>
          <p:cNvPr id="66" name="Google Shape;66;p4"/>
          <p:cNvSpPr txBox="1"/>
          <p:nvPr/>
        </p:nvSpPr>
        <p:spPr>
          <a:xfrm>
            <a:off x="499927" y="961741"/>
            <a:ext cx="8010300" cy="5781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2800" b="1" i="0" u="none" strike="noStrike" cap="none" dirty="0">
                <a:solidFill>
                  <a:srgbClr val="073763"/>
                </a:solidFill>
                <a:latin typeface="Times New Roman"/>
                <a:ea typeface="Times New Roman"/>
                <a:cs typeface="Times New Roman"/>
                <a:sym typeface="Times New Roman"/>
              </a:rPr>
              <a:t>Introduction</a:t>
            </a:r>
            <a:r>
              <a:rPr lang="en-US" sz="2200" b="0" i="0" u="none" strike="noStrike" cap="none" dirty="0">
                <a:solidFill>
                  <a:srgbClr val="073763"/>
                </a:solidFill>
                <a:latin typeface="Times New Roman"/>
                <a:ea typeface="Times New Roman"/>
                <a:cs typeface="Times New Roman"/>
                <a:sym typeface="Times New Roman"/>
              </a:rPr>
              <a:t> </a:t>
            </a:r>
            <a:endParaRPr dirty="0">
              <a:solidFill>
                <a:srgbClr val="073763"/>
              </a:solidFill>
            </a:endParaRPr>
          </a:p>
        </p:txBody>
      </p:sp>
      <p:sp>
        <p:nvSpPr>
          <p:cNvPr id="67" name="Google Shape;67;p4"/>
          <p:cNvSpPr txBox="1"/>
          <p:nvPr/>
        </p:nvSpPr>
        <p:spPr>
          <a:xfrm>
            <a:off x="1379346" y="5980176"/>
            <a:ext cx="7378753" cy="821391"/>
          </a:xfrm>
          <a:prstGeom prst="rect">
            <a:avLst/>
          </a:prstGeom>
          <a:noFill/>
          <a:ln>
            <a:noFill/>
          </a:ln>
        </p:spPr>
        <p:txBody>
          <a:bodyPr spcFirstLastPara="1" wrap="square" lIns="0" tIns="12700" rIns="0" bIns="0" anchor="t" anchorCtr="0">
            <a:noAutofit/>
          </a:bodyPr>
          <a:lstStyle/>
          <a:p>
            <a:pPr marL="12700" algn="ctr">
              <a:buSzPts val="1800"/>
            </a:pPr>
            <a:r>
              <a:rPr lang="en-US" sz="1800" b="1" i="1" u="none" strike="noStrike" cap="none">
                <a:solidFill>
                  <a:srgbClr val="C00000"/>
                </a:solidFill>
                <a:latin typeface="Times New Roman"/>
                <a:ea typeface="Times New Roman"/>
                <a:cs typeface="Times New Roman"/>
                <a:sym typeface="Times New Roman"/>
              </a:rPr>
              <a:t>Department of Information Technology, MITSoC, Loni Kalbhor</a:t>
            </a:r>
            <a:endParaRPr lang="en-US" sz="1800" b="1" i="1" u="none" strike="noStrike" cap="none" dirty="0">
              <a:solidFill>
                <a:srgbClr val="C00000"/>
              </a:solidFill>
              <a:latin typeface="Times New Roman"/>
              <a:ea typeface="Times New Roman"/>
              <a:cs typeface="Times New Roman"/>
              <a:sym typeface="Times New Roman"/>
            </a:endParaRPr>
          </a:p>
        </p:txBody>
      </p:sp>
      <p:pic>
        <p:nvPicPr>
          <p:cNvPr id="68" name="Google Shape;68;p4"/>
          <p:cNvPicPr preferRelativeResize="0"/>
          <p:nvPr/>
        </p:nvPicPr>
        <p:blipFill rotWithShape="1">
          <a:blip r:embed="rId3">
            <a:alphaModFix/>
          </a:blip>
          <a:srcRect/>
          <a:stretch/>
        </p:blipFill>
        <p:spPr>
          <a:xfrm>
            <a:off x="0" y="5837549"/>
            <a:ext cx="999854" cy="1020451"/>
          </a:xfrm>
          <a:prstGeom prst="rect">
            <a:avLst/>
          </a:prstGeom>
          <a:noFill/>
          <a:ln>
            <a:noFill/>
          </a:ln>
        </p:spPr>
      </p:pic>
      <p:sp>
        <p:nvSpPr>
          <p:cNvPr id="69" name="Google Shape;69;p4"/>
          <p:cNvSpPr txBox="1"/>
          <p:nvPr/>
        </p:nvSpPr>
        <p:spPr>
          <a:xfrm>
            <a:off x="499927" y="1647642"/>
            <a:ext cx="8088900" cy="2308294"/>
          </a:xfrm>
          <a:prstGeom prst="rect">
            <a:avLst/>
          </a:prstGeom>
          <a:noFill/>
          <a:ln>
            <a:noFill/>
          </a:ln>
        </p:spPr>
        <p:txBody>
          <a:bodyPr spcFirstLastPara="1" wrap="square" lIns="91425" tIns="91425" rIns="91425" bIns="91425" anchor="t" anchorCtr="0">
            <a:spAutoFit/>
          </a:bodyPr>
          <a:lstStyle/>
          <a:p>
            <a:r>
              <a:rPr lang="en-US" sz="1500" dirty="0">
                <a:latin typeface="Times New Roman" panose="02020603050405020304" pitchFamily="18" charset="0"/>
                <a:cs typeface="Times New Roman" panose="02020603050405020304" pitchFamily="18" charset="0"/>
              </a:rPr>
              <a:t>In today’s fast-changing job market, it’s often challenging and time-consuming for people to plan a clear path for their careers. Traditional career planning methods are usually generic and don’t offer personalized advice. Our website solves this problem by using advanced artificial intelligence to create easy-to-follow, step-by-step career roadmaps tailored to each individual’s goals.</a:t>
            </a:r>
          </a:p>
          <a:p>
            <a:r>
              <a:rPr lang="en-US" sz="1500" dirty="0">
                <a:latin typeface="Times New Roman" panose="02020603050405020304" pitchFamily="18" charset="0"/>
                <a:cs typeface="Times New Roman" panose="02020603050405020304" pitchFamily="18" charset="0"/>
              </a:rPr>
              <a:t>We focus on two main features: </a:t>
            </a:r>
            <a:r>
              <a:rPr lang="en-US" sz="1500" b="1" dirty="0">
                <a:latin typeface="Times New Roman" panose="02020603050405020304" pitchFamily="18" charset="0"/>
                <a:cs typeface="Times New Roman" panose="02020603050405020304" pitchFamily="18" charset="0"/>
              </a:rPr>
              <a:t>generating these personalized roadmaps using AI, and helping users connect with experienced mentors in their desired fields</a:t>
            </a:r>
            <a:r>
              <a:rPr lang="en-US" sz="1500" dirty="0">
                <a:latin typeface="Times New Roman" panose="02020603050405020304" pitchFamily="18" charset="0"/>
                <a:cs typeface="Times New Roman" panose="02020603050405020304" pitchFamily="18" charset="0"/>
              </a:rPr>
              <a:t>. Together, these features provide practical guidance and personal support to help users achieve their career aspirations more effectively and confidently.</a:t>
            </a:r>
          </a:p>
          <a:p>
            <a:pPr lvl="0" algn="just">
              <a:lnSpc>
                <a:spcPct val="150000"/>
              </a:lnSpc>
            </a:pPr>
            <a:endParaRPr sz="1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g5cc8714c89_0_4"/>
          <p:cNvSpPr txBox="1">
            <a:spLocks noGrp="1"/>
          </p:cNvSpPr>
          <p:nvPr>
            <p:ph type="title"/>
          </p:nvPr>
        </p:nvSpPr>
        <p:spPr>
          <a:xfrm>
            <a:off x="727954" y="810079"/>
            <a:ext cx="6907286" cy="313217"/>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SzPts val="1400"/>
              <a:buNone/>
            </a:pPr>
            <a:r>
              <a:rPr lang="en-US" sz="2800" dirty="0">
                <a:solidFill>
                  <a:srgbClr val="073763"/>
                </a:solidFill>
                <a:latin typeface="Times New Roman" panose="02020603050405020304" pitchFamily="18" charset="0"/>
                <a:cs typeface="Times New Roman" panose="02020603050405020304" pitchFamily="18" charset="0"/>
              </a:rPr>
              <a:t>Problem</a:t>
            </a:r>
            <a:r>
              <a:rPr lang="en-US" dirty="0">
                <a:solidFill>
                  <a:srgbClr val="073763"/>
                </a:solidFill>
                <a:latin typeface="Times New Roman" panose="02020603050405020304" pitchFamily="18" charset="0"/>
                <a:cs typeface="Times New Roman" panose="02020603050405020304" pitchFamily="18" charset="0"/>
              </a:rPr>
              <a:t> </a:t>
            </a:r>
            <a:r>
              <a:rPr lang="en-US" sz="2800" dirty="0">
                <a:solidFill>
                  <a:srgbClr val="073763"/>
                </a:solidFill>
                <a:latin typeface="Times New Roman" panose="02020603050405020304" pitchFamily="18" charset="0"/>
                <a:cs typeface="Times New Roman" panose="02020603050405020304" pitchFamily="18" charset="0"/>
              </a:rPr>
              <a:t>statement</a:t>
            </a:r>
            <a:r>
              <a:rPr lang="en-US" dirty="0">
                <a:solidFill>
                  <a:srgbClr val="073763"/>
                </a:solidFill>
                <a:latin typeface="Times New Roman" panose="02020603050405020304" pitchFamily="18" charset="0"/>
                <a:cs typeface="Times New Roman" panose="02020603050405020304" pitchFamily="18" charset="0"/>
              </a:rPr>
              <a:t> </a:t>
            </a:r>
            <a:endParaRPr dirty="0">
              <a:solidFill>
                <a:srgbClr val="073763"/>
              </a:solidFill>
              <a:latin typeface="Times New Roman" panose="02020603050405020304" pitchFamily="18" charset="0"/>
              <a:cs typeface="Times New Roman" panose="02020603050405020304" pitchFamily="18" charset="0"/>
            </a:endParaRPr>
          </a:p>
        </p:txBody>
      </p:sp>
      <p:sp>
        <p:nvSpPr>
          <p:cNvPr id="57" name="Google Shape;57;g5cc8714c89_0_4"/>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800"/>
              <a:buNone/>
            </a:pPr>
            <a:fld id="{00000000-1234-1234-1234-123412341234}" type="slidenum">
              <a:rPr lang="en-US"/>
              <a:t>4</a:t>
            </a:fld>
            <a:endParaRPr/>
          </a:p>
        </p:txBody>
      </p:sp>
      <p:sp>
        <p:nvSpPr>
          <p:cNvPr id="58" name="Google Shape;58;g5cc8714c89_0_4"/>
          <p:cNvSpPr txBox="1"/>
          <p:nvPr/>
        </p:nvSpPr>
        <p:spPr>
          <a:xfrm>
            <a:off x="1210395" y="6055940"/>
            <a:ext cx="7468795" cy="672919"/>
          </a:xfrm>
          <a:prstGeom prst="rect">
            <a:avLst/>
          </a:prstGeom>
          <a:noFill/>
          <a:ln>
            <a:noFill/>
          </a:ln>
        </p:spPr>
        <p:txBody>
          <a:bodyPr spcFirstLastPara="1" wrap="square" lIns="0" tIns="12700" rIns="0" bIns="0" anchor="t" anchorCtr="0">
            <a:noAutofit/>
          </a:bodyPr>
          <a:lstStyle/>
          <a:p>
            <a:pPr marL="12700" algn="ctr">
              <a:buSzPts val="1800"/>
            </a:pPr>
            <a:r>
              <a:rPr lang="en-US" sz="1800" b="1" i="1" u="none" strike="noStrike" cap="none" dirty="0">
                <a:solidFill>
                  <a:srgbClr val="C00000"/>
                </a:solidFill>
                <a:latin typeface="Times New Roman"/>
                <a:ea typeface="Times New Roman"/>
                <a:cs typeface="Times New Roman"/>
                <a:sym typeface="Times New Roman"/>
              </a:rPr>
              <a:t>Department of Information Technology, MITS0C, Loni </a:t>
            </a:r>
            <a:r>
              <a:rPr lang="en-US" sz="1800" b="1" i="1" u="none" strike="noStrike" cap="none" dirty="0" err="1">
                <a:solidFill>
                  <a:srgbClr val="C00000"/>
                </a:solidFill>
                <a:latin typeface="Times New Roman"/>
                <a:ea typeface="Times New Roman"/>
                <a:cs typeface="Times New Roman"/>
                <a:sym typeface="Times New Roman"/>
              </a:rPr>
              <a:t>Kalbhor</a:t>
            </a:r>
            <a:endParaRPr lang="en-US" sz="1800" b="1" i="1" u="none" strike="noStrike" cap="none" dirty="0">
              <a:solidFill>
                <a:srgbClr val="C00000"/>
              </a:solidFill>
              <a:latin typeface="Times New Roman"/>
              <a:ea typeface="Times New Roman"/>
              <a:cs typeface="Times New Roman"/>
              <a:sym typeface="Times New Roman"/>
            </a:endParaRPr>
          </a:p>
          <a:p>
            <a:pPr marL="12700" marR="0" lvl="0" indent="0" algn="ctr" rtl="0">
              <a:lnSpc>
                <a:spcPct val="100000"/>
              </a:lnSpc>
              <a:spcBef>
                <a:spcPts val="0"/>
              </a:spcBef>
              <a:spcAft>
                <a:spcPts val="0"/>
              </a:spcAft>
              <a:buClr>
                <a:srgbClr val="000000"/>
              </a:buClr>
              <a:buSzPts val="1800"/>
              <a:buFont typeface="Arial"/>
              <a:buNone/>
            </a:pPr>
            <a:endParaRPr sz="1800" b="1" i="1" u="none" strike="noStrike" cap="none" dirty="0">
              <a:solidFill>
                <a:srgbClr val="C00000"/>
              </a:solidFill>
              <a:latin typeface="Times New Roman"/>
              <a:ea typeface="Times New Roman"/>
              <a:cs typeface="Times New Roman"/>
              <a:sym typeface="Times New Roman"/>
            </a:endParaRPr>
          </a:p>
        </p:txBody>
      </p:sp>
      <p:pic>
        <p:nvPicPr>
          <p:cNvPr id="59" name="Google Shape;59;g5cc8714c89_0_4"/>
          <p:cNvPicPr preferRelativeResize="0"/>
          <p:nvPr/>
        </p:nvPicPr>
        <p:blipFill rotWithShape="1">
          <a:blip r:embed="rId3">
            <a:alphaModFix/>
          </a:blip>
          <a:srcRect/>
          <a:stretch/>
        </p:blipFill>
        <p:spPr>
          <a:xfrm>
            <a:off x="0" y="5812967"/>
            <a:ext cx="999854" cy="1020451"/>
          </a:xfrm>
          <a:prstGeom prst="rect">
            <a:avLst/>
          </a:prstGeom>
          <a:noFill/>
          <a:ln>
            <a:noFill/>
          </a:ln>
        </p:spPr>
      </p:pic>
      <p:sp>
        <p:nvSpPr>
          <p:cNvPr id="60" name="Google Shape;60;g5cc8714c89_0_4"/>
          <p:cNvSpPr txBox="1"/>
          <p:nvPr/>
        </p:nvSpPr>
        <p:spPr>
          <a:xfrm>
            <a:off x="152164" y="1606146"/>
            <a:ext cx="7644817" cy="4610794"/>
          </a:xfrm>
          <a:prstGeom prst="rect">
            <a:avLst/>
          </a:prstGeom>
          <a:noFill/>
          <a:ln>
            <a:noFill/>
          </a:ln>
        </p:spPr>
        <p:txBody>
          <a:bodyPr spcFirstLastPara="1" wrap="square" lIns="91425" tIns="91425" rIns="91425" bIns="91425" anchor="t" anchorCtr="0">
            <a:noAutofit/>
          </a:bodyPr>
          <a:lstStyle/>
          <a:p>
            <a:pPr marL="457200" lvl="0" algn="just"/>
            <a:r>
              <a:rPr lang="en-US" sz="1500" dirty="0">
                <a:latin typeface="Times New Roman" panose="02020603050405020304" pitchFamily="18" charset="0"/>
                <a:cs typeface="Times New Roman" panose="02020603050405020304" pitchFamily="18" charset="0"/>
              </a:rPr>
              <a:t>Many individuals find it difficult to plan their career paths clearly and effectively. Traditional career guidance methods are often time-consuming and lack personalized recommendations tailored to unique goals. Additionally, access to experienced mentors is limited for many users. There is a need for a user-friendly platform that generates customized career roadmaps using advanced technology and connects users with qualified mentors, enabling them to make informed decisions and achieve their career objectives more efficiently.</a:t>
            </a:r>
            <a:endParaRPr sz="15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16"/>
          <p:cNvSpPr txBox="1">
            <a:spLocks noGrp="1"/>
          </p:cNvSpPr>
          <p:nvPr>
            <p:ph type="sldNum" idx="12"/>
          </p:nvPr>
        </p:nvSpPr>
        <p:spPr>
          <a:xfrm>
            <a:off x="6583680" y="6377940"/>
            <a:ext cx="2103120" cy="342900"/>
          </a:xfrm>
          <a:prstGeom prst="rect">
            <a:avLst/>
          </a:prstGeom>
          <a:noFill/>
          <a:ln>
            <a:noFill/>
          </a:ln>
        </p:spPr>
        <p:txBody>
          <a:bodyPr spcFirstLastPara="1" wrap="square" lIns="0" tIns="0" rIns="0" bIns="0" anchor="t" anchorCtr="0">
            <a:spAutoFit/>
          </a:bodyPr>
          <a:lstStyle/>
          <a:p>
            <a:pPr marL="0" lvl="0" indent="0" algn="r" rtl="0">
              <a:lnSpc>
                <a:spcPct val="100000"/>
              </a:lnSpc>
              <a:spcBef>
                <a:spcPts val="0"/>
              </a:spcBef>
              <a:spcAft>
                <a:spcPts val="0"/>
              </a:spcAft>
              <a:buSzPts val="1800"/>
              <a:buNone/>
            </a:pPr>
            <a:fld id="{00000000-1234-1234-1234-123412341234}" type="slidenum">
              <a:rPr lang="en-US"/>
              <a:t>5</a:t>
            </a:fld>
            <a:endParaRPr/>
          </a:p>
        </p:txBody>
      </p:sp>
      <p:sp>
        <p:nvSpPr>
          <p:cNvPr id="153" name="Google Shape;153;p16"/>
          <p:cNvSpPr txBox="1"/>
          <p:nvPr/>
        </p:nvSpPr>
        <p:spPr>
          <a:xfrm>
            <a:off x="1379346" y="6055962"/>
            <a:ext cx="7378753" cy="672897"/>
          </a:xfrm>
          <a:prstGeom prst="rect">
            <a:avLst/>
          </a:prstGeom>
          <a:noFill/>
          <a:ln>
            <a:noFill/>
          </a:ln>
        </p:spPr>
        <p:txBody>
          <a:bodyPr spcFirstLastPara="1" wrap="square" lIns="0" tIns="12700" rIns="0" bIns="0" anchor="t" anchorCtr="0">
            <a:noAutofit/>
          </a:bodyPr>
          <a:lstStyle/>
          <a:p>
            <a:pPr marL="12700" algn="ctr">
              <a:buSzPts val="1800"/>
            </a:pPr>
            <a:r>
              <a:rPr lang="en-US" sz="1800" b="1" i="1" u="none" strike="noStrike" cap="none" dirty="0">
                <a:solidFill>
                  <a:srgbClr val="C00000"/>
                </a:solidFill>
                <a:latin typeface="Times New Roman"/>
                <a:ea typeface="Times New Roman"/>
                <a:cs typeface="Times New Roman"/>
                <a:sym typeface="Times New Roman"/>
              </a:rPr>
              <a:t>Department of Information Technology, </a:t>
            </a:r>
            <a:r>
              <a:rPr lang="en-US" sz="1800" b="1" i="1" u="none" strike="noStrike" cap="none" dirty="0" err="1">
                <a:solidFill>
                  <a:srgbClr val="C00000"/>
                </a:solidFill>
                <a:latin typeface="Times New Roman"/>
                <a:ea typeface="Times New Roman"/>
                <a:cs typeface="Times New Roman"/>
                <a:sym typeface="Times New Roman"/>
              </a:rPr>
              <a:t>MITSoC</a:t>
            </a:r>
            <a:r>
              <a:rPr lang="en-US" sz="1800" b="1" i="1" u="none" strike="noStrike" cap="none" dirty="0">
                <a:solidFill>
                  <a:srgbClr val="C00000"/>
                </a:solidFill>
                <a:latin typeface="Times New Roman"/>
                <a:ea typeface="Times New Roman"/>
                <a:cs typeface="Times New Roman"/>
                <a:sym typeface="Times New Roman"/>
              </a:rPr>
              <a:t>, Loni </a:t>
            </a:r>
            <a:r>
              <a:rPr lang="en-US" sz="1800" b="1" i="1" u="none" strike="noStrike" cap="none" dirty="0" err="1">
                <a:solidFill>
                  <a:srgbClr val="C00000"/>
                </a:solidFill>
                <a:latin typeface="Times New Roman"/>
                <a:ea typeface="Times New Roman"/>
                <a:cs typeface="Times New Roman"/>
                <a:sym typeface="Times New Roman"/>
              </a:rPr>
              <a:t>Kalbhor</a:t>
            </a:r>
            <a:endParaRPr lang="en-US" sz="1800" b="1" i="1" u="none" strike="noStrike" cap="none" dirty="0">
              <a:solidFill>
                <a:srgbClr val="C00000"/>
              </a:solidFill>
              <a:latin typeface="Times New Roman"/>
              <a:ea typeface="Times New Roman"/>
              <a:cs typeface="Times New Roman"/>
              <a:sym typeface="Times New Roman"/>
            </a:endParaRPr>
          </a:p>
          <a:p>
            <a:pPr marL="12700" marR="0" lvl="0" indent="0" algn="ctr" rtl="0">
              <a:lnSpc>
                <a:spcPct val="100000"/>
              </a:lnSpc>
              <a:spcBef>
                <a:spcPts val="0"/>
              </a:spcBef>
              <a:spcAft>
                <a:spcPts val="0"/>
              </a:spcAft>
              <a:buClr>
                <a:srgbClr val="000000"/>
              </a:buClr>
              <a:buSzPts val="1800"/>
              <a:buFont typeface="Arial"/>
              <a:buNone/>
            </a:pPr>
            <a:endParaRPr sz="1800" b="1" i="1" u="none" strike="noStrike" cap="none" dirty="0">
              <a:solidFill>
                <a:srgbClr val="C00000"/>
              </a:solidFill>
              <a:latin typeface="Times New Roman"/>
              <a:ea typeface="Times New Roman"/>
              <a:cs typeface="Times New Roman"/>
              <a:sym typeface="Times New Roman"/>
            </a:endParaRPr>
          </a:p>
        </p:txBody>
      </p:sp>
      <p:pic>
        <p:nvPicPr>
          <p:cNvPr id="155" name="Google Shape;155;p16"/>
          <p:cNvPicPr preferRelativeResize="0"/>
          <p:nvPr/>
        </p:nvPicPr>
        <p:blipFill rotWithShape="1">
          <a:blip r:embed="rId3">
            <a:alphaModFix/>
          </a:blip>
          <a:srcRect/>
          <a:stretch/>
        </p:blipFill>
        <p:spPr>
          <a:xfrm>
            <a:off x="0" y="5812967"/>
            <a:ext cx="999854" cy="1020451"/>
          </a:xfrm>
          <a:prstGeom prst="rect">
            <a:avLst/>
          </a:prstGeom>
          <a:noFill/>
          <a:ln>
            <a:noFill/>
          </a:ln>
        </p:spPr>
      </p:pic>
      <p:sp>
        <p:nvSpPr>
          <p:cNvPr id="5" name="TextBox 4">
            <a:extLst>
              <a:ext uri="{FF2B5EF4-FFF2-40B4-BE49-F238E27FC236}">
                <a16:creationId xmlns:a16="http://schemas.microsoft.com/office/drawing/2014/main" id="{E06A514E-90EF-16E6-DB93-480C95781809}"/>
              </a:ext>
            </a:extLst>
          </p:cNvPr>
          <p:cNvSpPr txBox="1"/>
          <p:nvPr/>
        </p:nvSpPr>
        <p:spPr>
          <a:xfrm>
            <a:off x="2930504" y="812510"/>
            <a:ext cx="4576916" cy="307777"/>
          </a:xfrm>
          <a:prstGeom prst="rect">
            <a:avLst/>
          </a:prstGeom>
          <a:noFill/>
        </p:spPr>
        <p:txBody>
          <a:bodyPr wrap="square">
            <a:spAutoFit/>
          </a:bodyPr>
          <a:lstStyle/>
          <a:p>
            <a:pPr marL="457200" marR="0" lvl="0" indent="-368300" algn="just" rtl="0">
              <a:lnSpc>
                <a:spcPct val="100000"/>
              </a:lnSpc>
              <a:spcBef>
                <a:spcPts val="0"/>
              </a:spcBef>
              <a:spcAft>
                <a:spcPts val="0"/>
              </a:spcAft>
              <a:buClr>
                <a:schemeClr val="dk1"/>
              </a:buClr>
              <a:buSzPts val="2200"/>
              <a:buFont typeface="Times New Roman"/>
              <a:buChar char="●"/>
            </a:pPr>
            <a:r>
              <a:rPr lang="en-US" sz="1400" dirty="0">
                <a:solidFill>
                  <a:schemeClr val="dk1"/>
                </a:solidFill>
                <a:latin typeface="Times New Roman"/>
                <a:ea typeface="Times New Roman"/>
                <a:cs typeface="Times New Roman"/>
                <a:sym typeface="Times New Roman"/>
              </a:rPr>
              <a:t>Literature Review </a:t>
            </a:r>
          </a:p>
        </p:txBody>
      </p:sp>
      <p:sp>
        <p:nvSpPr>
          <p:cNvPr id="6" name="TextBox 5">
            <a:extLst>
              <a:ext uri="{FF2B5EF4-FFF2-40B4-BE49-F238E27FC236}">
                <a16:creationId xmlns:a16="http://schemas.microsoft.com/office/drawing/2014/main" id="{5CB7EDD5-4F55-DED6-3BB4-5A06E46CE147}"/>
              </a:ext>
            </a:extLst>
          </p:cNvPr>
          <p:cNvSpPr txBox="1"/>
          <p:nvPr/>
        </p:nvSpPr>
        <p:spPr>
          <a:xfrm>
            <a:off x="334297" y="1661743"/>
            <a:ext cx="8423802" cy="2400657"/>
          </a:xfrm>
          <a:prstGeom prst="rect">
            <a:avLst/>
          </a:prstGeom>
          <a:noFill/>
        </p:spPr>
        <p:txBody>
          <a:bodyPr wrap="square">
            <a:spAutoFit/>
          </a:bodyPr>
          <a:lstStyle/>
          <a:p>
            <a:pPr algn="l">
              <a:buFont typeface="Arial" panose="020B0604020202020204" pitchFamily="34" charset="0"/>
              <a:buChar char="•"/>
            </a:pPr>
            <a:r>
              <a:rPr lang="en-US" sz="1500" b="1" i="0" dirty="0">
                <a:effectLst/>
                <a:latin typeface="Times New Roman" panose="02020603050405020304" pitchFamily="18" charset="0"/>
                <a:cs typeface="Times New Roman" panose="02020603050405020304" pitchFamily="18" charset="0"/>
              </a:rPr>
              <a:t>Generate personalized roadmaps</a:t>
            </a:r>
            <a:r>
              <a:rPr lang="en-US" sz="1500" b="0" i="0" dirty="0">
                <a:effectLst/>
                <a:latin typeface="Times New Roman" panose="02020603050405020304" pitchFamily="18" charset="0"/>
                <a:cs typeface="Times New Roman" panose="02020603050405020304" pitchFamily="18" charset="0"/>
              </a:rPr>
              <a:t>: Use user-provided goals to create step-by-step learning and career plans tailored to skills, timeline, and background.</a:t>
            </a:r>
          </a:p>
          <a:p>
            <a:pPr algn="l">
              <a:buFont typeface="Arial" panose="020B0604020202020204" pitchFamily="34" charset="0"/>
              <a:buChar char="•"/>
            </a:pPr>
            <a:r>
              <a:rPr lang="en-US" sz="1500" b="1" i="0" dirty="0">
                <a:effectLst/>
                <a:latin typeface="Times New Roman" panose="02020603050405020304" pitchFamily="18" charset="0"/>
                <a:cs typeface="Times New Roman" panose="02020603050405020304" pitchFamily="18" charset="0"/>
              </a:rPr>
              <a:t>Connect to mentors</a:t>
            </a:r>
            <a:r>
              <a:rPr lang="en-US" sz="1500" b="0" i="0" dirty="0">
                <a:effectLst/>
                <a:latin typeface="Times New Roman" panose="02020603050405020304" pitchFamily="18" charset="0"/>
                <a:cs typeface="Times New Roman" panose="02020603050405020304" pitchFamily="18" charset="0"/>
              </a:rPr>
              <a:t>: Match users with experienced mentors for advice, reviews, and real-world insights that complement AI suggestions.</a:t>
            </a:r>
          </a:p>
          <a:p>
            <a:pPr algn="l">
              <a:buFont typeface="Arial" panose="020B0604020202020204" pitchFamily="34" charset="0"/>
              <a:buChar char="•"/>
            </a:pPr>
            <a:r>
              <a:rPr lang="en-US" sz="1500" b="1" i="0" dirty="0">
                <a:effectLst/>
                <a:latin typeface="Times New Roman" panose="02020603050405020304" pitchFamily="18" charset="0"/>
                <a:cs typeface="Times New Roman" panose="02020603050405020304" pitchFamily="18" charset="0"/>
              </a:rPr>
              <a:t>Improve accessibility and speed</a:t>
            </a:r>
            <a:r>
              <a:rPr lang="en-US" sz="1500" b="0" i="0" dirty="0">
                <a:effectLst/>
                <a:latin typeface="Times New Roman" panose="02020603050405020304" pitchFamily="18" charset="0"/>
                <a:cs typeface="Times New Roman" panose="02020603050405020304" pitchFamily="18" charset="0"/>
              </a:rPr>
              <a:t>: Deliver instant, easy-to-understand guidance to reduce time spent searching for reliable career paths.</a:t>
            </a:r>
          </a:p>
          <a:p>
            <a:pPr algn="l">
              <a:buFont typeface="Arial" panose="020B0604020202020204" pitchFamily="34" charset="0"/>
              <a:buChar char="•"/>
            </a:pPr>
            <a:r>
              <a:rPr lang="en-US" sz="1500" b="1" i="0" dirty="0">
                <a:effectLst/>
                <a:latin typeface="Times New Roman" panose="02020603050405020304" pitchFamily="18" charset="0"/>
                <a:cs typeface="Times New Roman" panose="02020603050405020304" pitchFamily="18" charset="0"/>
              </a:rPr>
              <a:t>Ensure relevance and quality</a:t>
            </a:r>
            <a:r>
              <a:rPr lang="en-US" sz="1500" b="0" i="0" dirty="0">
                <a:effectLst/>
                <a:latin typeface="Times New Roman" panose="02020603050405020304" pitchFamily="18" charset="0"/>
                <a:cs typeface="Times New Roman" panose="02020603050405020304" pitchFamily="18" charset="0"/>
              </a:rPr>
              <a:t>: Validate and refine AI outputs through prompt engineering, post-processing, and mentor feedback to keep recommendations accurate and practical.</a:t>
            </a:r>
          </a:p>
          <a:p>
            <a:pPr algn="l">
              <a:buFont typeface="Arial" panose="020B0604020202020204" pitchFamily="34" charset="0"/>
              <a:buChar char="•"/>
            </a:pPr>
            <a:r>
              <a:rPr lang="en-US" sz="1500" b="1" i="0" dirty="0">
                <a:effectLst/>
                <a:latin typeface="Times New Roman" panose="02020603050405020304" pitchFamily="18" charset="0"/>
                <a:cs typeface="Times New Roman" panose="02020603050405020304" pitchFamily="18" charset="0"/>
              </a:rPr>
              <a:t>Protect privacy and ethics</a:t>
            </a:r>
            <a:r>
              <a:rPr lang="en-US" sz="1500" b="0" i="0" dirty="0">
                <a:effectLst/>
                <a:latin typeface="Times New Roman" panose="02020603050405020304" pitchFamily="18" charset="0"/>
                <a:cs typeface="Times New Roman" panose="02020603050405020304" pitchFamily="18" charset="0"/>
              </a:rPr>
              <a:t>: Secure user data, provide transparency about AI limitations, and mitigate bias in recommendations.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5">
          <a:extLst>
            <a:ext uri="{FF2B5EF4-FFF2-40B4-BE49-F238E27FC236}">
              <a16:creationId xmlns:a16="http://schemas.microsoft.com/office/drawing/2014/main" id="{0C11E5D6-721C-D095-0F88-C1B1627AF55E}"/>
            </a:ext>
          </a:extLst>
        </p:cNvPr>
        <p:cNvGrpSpPr/>
        <p:nvPr/>
      </p:nvGrpSpPr>
      <p:grpSpPr>
        <a:xfrm>
          <a:off x="0" y="0"/>
          <a:ext cx="0" cy="0"/>
          <a:chOff x="0" y="0"/>
          <a:chExt cx="0" cy="0"/>
        </a:xfrm>
      </p:grpSpPr>
      <p:sp>
        <p:nvSpPr>
          <p:cNvPr id="46" name="Google Shape;46;p2">
            <a:extLst>
              <a:ext uri="{FF2B5EF4-FFF2-40B4-BE49-F238E27FC236}">
                <a16:creationId xmlns:a16="http://schemas.microsoft.com/office/drawing/2014/main" id="{9D201261-735E-2CD4-E983-66926EE86B73}"/>
              </a:ext>
            </a:extLst>
          </p:cNvPr>
          <p:cNvSpPr txBox="1"/>
          <p:nvPr/>
        </p:nvSpPr>
        <p:spPr>
          <a:xfrm>
            <a:off x="999854" y="5986743"/>
            <a:ext cx="7496601" cy="672897"/>
          </a:xfrm>
          <a:prstGeom prst="rect">
            <a:avLst/>
          </a:prstGeom>
          <a:noFill/>
          <a:ln>
            <a:noFill/>
          </a:ln>
        </p:spPr>
        <p:txBody>
          <a:bodyPr spcFirstLastPara="1" wrap="square" lIns="0" tIns="12700" rIns="0" bIns="0" anchor="t" anchorCtr="0">
            <a:noAutofit/>
          </a:bodyPr>
          <a:lstStyle/>
          <a:p>
            <a:pPr marL="12700" marR="0" lvl="0" indent="0" algn="ctr" rtl="0">
              <a:lnSpc>
                <a:spcPct val="100000"/>
              </a:lnSpc>
              <a:spcBef>
                <a:spcPts val="0"/>
              </a:spcBef>
              <a:spcAft>
                <a:spcPts val="0"/>
              </a:spcAft>
              <a:buClr>
                <a:srgbClr val="000000"/>
              </a:buClr>
              <a:buSzPts val="1800"/>
              <a:buFont typeface="Arial"/>
              <a:buNone/>
            </a:pPr>
            <a:r>
              <a:rPr lang="en-US" sz="1800" b="1" i="1" u="none" strike="noStrike" cap="none" dirty="0">
                <a:solidFill>
                  <a:srgbClr val="C00000"/>
                </a:solidFill>
                <a:latin typeface="Times New Roman"/>
                <a:ea typeface="Times New Roman"/>
                <a:cs typeface="Times New Roman"/>
                <a:sym typeface="Times New Roman"/>
              </a:rPr>
              <a:t>Department of Information Technology, </a:t>
            </a:r>
            <a:r>
              <a:rPr lang="en-US" sz="1800" b="1" i="1" u="none" strike="noStrike" cap="none" dirty="0" err="1">
                <a:solidFill>
                  <a:srgbClr val="C00000"/>
                </a:solidFill>
                <a:latin typeface="Times New Roman"/>
                <a:ea typeface="Times New Roman"/>
                <a:cs typeface="Times New Roman"/>
                <a:sym typeface="Times New Roman"/>
              </a:rPr>
              <a:t>MITSoC</a:t>
            </a:r>
            <a:r>
              <a:rPr lang="en-US" sz="1800" b="1" i="1" u="none" strike="noStrike" cap="none" dirty="0">
                <a:solidFill>
                  <a:srgbClr val="C00000"/>
                </a:solidFill>
                <a:latin typeface="Times New Roman"/>
                <a:ea typeface="Times New Roman"/>
                <a:cs typeface="Times New Roman"/>
                <a:sym typeface="Times New Roman"/>
              </a:rPr>
              <a:t>, Loni </a:t>
            </a:r>
            <a:r>
              <a:rPr lang="en-US" sz="1800" b="1" i="1" u="none" strike="noStrike" cap="none" dirty="0" err="1">
                <a:solidFill>
                  <a:srgbClr val="C00000"/>
                </a:solidFill>
                <a:latin typeface="Times New Roman"/>
                <a:ea typeface="Times New Roman"/>
                <a:cs typeface="Times New Roman"/>
                <a:sym typeface="Times New Roman"/>
              </a:rPr>
              <a:t>Kalbhor</a:t>
            </a:r>
            <a:endParaRPr sz="1800" b="1" i="1" u="none" strike="noStrike" cap="none" dirty="0">
              <a:solidFill>
                <a:srgbClr val="C00000"/>
              </a:solidFill>
              <a:latin typeface="Times New Roman"/>
              <a:ea typeface="Times New Roman"/>
              <a:cs typeface="Times New Roman"/>
              <a:sym typeface="Times New Roman"/>
            </a:endParaRPr>
          </a:p>
        </p:txBody>
      </p:sp>
      <p:sp>
        <p:nvSpPr>
          <p:cNvPr id="47" name="Google Shape;47;p2">
            <a:extLst>
              <a:ext uri="{FF2B5EF4-FFF2-40B4-BE49-F238E27FC236}">
                <a16:creationId xmlns:a16="http://schemas.microsoft.com/office/drawing/2014/main" id="{9CC0AE3D-87CC-674C-CE60-116399DB97E8}"/>
              </a:ext>
            </a:extLst>
          </p:cNvPr>
          <p:cNvSpPr/>
          <p:nvPr/>
        </p:nvSpPr>
        <p:spPr>
          <a:xfrm>
            <a:off x="2514600" y="3840480"/>
            <a:ext cx="3733800" cy="338700"/>
          </a:xfrm>
          <a:prstGeom prst="rect">
            <a:avLst/>
          </a:prstGeom>
          <a:noFill/>
          <a:ln>
            <a:noFill/>
          </a:ln>
        </p:spPr>
        <p:txBody>
          <a:bodyPr spcFirstLastPara="1" wrap="square" lIns="91425" tIns="45700" rIns="91425" bIns="45700" anchor="t" anchorCtr="0">
            <a:noAutofit/>
          </a:bodyPr>
          <a:lstStyle/>
          <a:p>
            <a:pPr marL="639762" marR="0" lvl="0" indent="-519112"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sp>
        <p:nvSpPr>
          <p:cNvPr id="49" name="Google Shape;49;p2">
            <a:extLst>
              <a:ext uri="{FF2B5EF4-FFF2-40B4-BE49-F238E27FC236}">
                <a16:creationId xmlns:a16="http://schemas.microsoft.com/office/drawing/2014/main" id="{9D05A908-43CD-80D4-DF1E-CF16A07BFF31}"/>
              </a:ext>
            </a:extLst>
          </p:cNvPr>
          <p:cNvSpPr txBox="1"/>
          <p:nvPr/>
        </p:nvSpPr>
        <p:spPr>
          <a:xfrm>
            <a:off x="823650" y="2285288"/>
            <a:ext cx="7496700" cy="40006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000" b="1" dirty="0">
                <a:latin typeface="Times New Roman"/>
                <a:ea typeface="Times New Roman"/>
                <a:cs typeface="Times New Roman"/>
                <a:sym typeface="Times New Roman"/>
              </a:rPr>
              <a:t>   </a:t>
            </a:r>
            <a:endParaRPr sz="2000" b="1" dirty="0">
              <a:latin typeface="Times New Roman"/>
              <a:ea typeface="Times New Roman"/>
              <a:cs typeface="Times New Roman"/>
              <a:sym typeface="Times New Roman"/>
            </a:endParaRPr>
          </a:p>
        </p:txBody>
      </p:sp>
      <p:pic>
        <p:nvPicPr>
          <p:cNvPr id="51" name="Google Shape;51;p2">
            <a:extLst>
              <a:ext uri="{FF2B5EF4-FFF2-40B4-BE49-F238E27FC236}">
                <a16:creationId xmlns:a16="http://schemas.microsoft.com/office/drawing/2014/main" id="{8A2B3D73-9E46-A466-5963-F1EE1FBEBA97}"/>
              </a:ext>
            </a:extLst>
          </p:cNvPr>
          <p:cNvPicPr preferRelativeResize="0"/>
          <p:nvPr/>
        </p:nvPicPr>
        <p:blipFill rotWithShape="1">
          <a:blip r:embed="rId3">
            <a:alphaModFix/>
          </a:blip>
          <a:srcRect/>
          <a:stretch/>
        </p:blipFill>
        <p:spPr>
          <a:xfrm>
            <a:off x="0" y="5812967"/>
            <a:ext cx="999854" cy="1020451"/>
          </a:xfrm>
          <a:prstGeom prst="rect">
            <a:avLst/>
          </a:prstGeom>
          <a:noFill/>
          <a:ln>
            <a:noFill/>
          </a:ln>
        </p:spPr>
      </p:pic>
      <p:sp>
        <p:nvSpPr>
          <p:cNvPr id="3" name="TextBox 2">
            <a:extLst>
              <a:ext uri="{FF2B5EF4-FFF2-40B4-BE49-F238E27FC236}">
                <a16:creationId xmlns:a16="http://schemas.microsoft.com/office/drawing/2014/main" id="{98F0F792-D904-CD1E-3485-0747009801FF}"/>
              </a:ext>
            </a:extLst>
          </p:cNvPr>
          <p:cNvSpPr txBox="1"/>
          <p:nvPr/>
        </p:nvSpPr>
        <p:spPr>
          <a:xfrm>
            <a:off x="226142" y="1078179"/>
            <a:ext cx="4576916" cy="4616648"/>
          </a:xfrm>
          <a:prstGeom prst="rect">
            <a:avLst/>
          </a:prstGeom>
          <a:noFill/>
        </p:spPr>
        <p:txBody>
          <a:bodyPr wrap="square">
            <a:spAutoFit/>
          </a:bodyPr>
          <a:lstStyle/>
          <a:p>
            <a:r>
              <a:rPr lang="en-US" dirty="0">
                <a:latin typeface="Times New Roman" panose="02020603050405020304" pitchFamily="18" charset="0"/>
                <a:cs typeface="Times New Roman" panose="02020603050405020304" pitchFamily="18" charset="0"/>
              </a:rPr>
              <a:t>Concepts:</a:t>
            </a:r>
          </a:p>
          <a:p>
            <a:pPr marL="171450" indent="-1714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Personalized Roadmap Generation: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Using user input and AI language models, generate individualized, stepwise career plans to guide learning and professional growth.</a:t>
            </a:r>
          </a:p>
          <a:p>
            <a:pPr marL="171450" indent="-1714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Mentor Connectivity:</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Facilitating meaningful connections between users and experienced professionals to provide personalized advice and real-world insights.</a:t>
            </a:r>
          </a:p>
          <a:p>
            <a:pPr marL="171450" indent="-1714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Natural Language Processing (NLP):</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Employing NLP models (e.g., GPT) to interpret free-text inputs and create coherent, actionable guidance.</a:t>
            </a:r>
          </a:p>
          <a:p>
            <a:pPr marL="171450" indent="-1714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User-Centric Design: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Ensuring an intuitive UI/UX that simplifies complex career planning through clear visualizations and interactive features.</a:t>
            </a:r>
          </a:p>
          <a:p>
            <a:pPr marL="171450" indent="-171450">
              <a:buFont typeface="Arial" panose="020B0604020202020204" pitchFamily="34" charset="0"/>
              <a:buChar char="•"/>
            </a:pPr>
            <a:r>
              <a:rPr lang="en-US" b="1" dirty="0">
                <a:latin typeface="Times New Roman" panose="02020603050405020304" pitchFamily="18" charset="0"/>
                <a:cs typeface="Times New Roman" panose="02020603050405020304" pitchFamily="18" charset="0"/>
              </a:rPr>
              <a:t>Data Security and Ethics: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Protecting user privacy and addressing AI bias by secure data handling and transparency around AI's role and limitations.</a:t>
            </a:r>
          </a:p>
          <a:p>
            <a:pPr marL="374650" marR="0" lvl="0" indent="-285750" algn="just" rtl="0">
              <a:lnSpc>
                <a:spcPct val="100000"/>
              </a:lnSpc>
              <a:spcBef>
                <a:spcPts val="0"/>
              </a:spcBef>
              <a:spcAft>
                <a:spcPts val="0"/>
              </a:spcAft>
              <a:buClr>
                <a:schemeClr val="dk1"/>
              </a:buClr>
              <a:buSzPts val="2200"/>
              <a:buFont typeface="Arial" panose="020B0604020202020204" pitchFamily="34" charset="0"/>
              <a:buChar char="•"/>
            </a:pPr>
            <a:endParaRPr lang="en-US"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
        <p:nvSpPr>
          <p:cNvPr id="5" name="Rectangle 2">
            <a:extLst>
              <a:ext uri="{FF2B5EF4-FFF2-40B4-BE49-F238E27FC236}">
                <a16:creationId xmlns:a16="http://schemas.microsoft.com/office/drawing/2014/main" id="{367AB8DF-33BD-35D7-8E94-D6C3481C410F}"/>
              </a:ext>
            </a:extLst>
          </p:cNvPr>
          <p:cNvSpPr>
            <a:spLocks noChangeArrowheads="1"/>
          </p:cNvSpPr>
          <p:nvPr/>
        </p:nvSpPr>
        <p:spPr bwMode="auto">
          <a:xfrm>
            <a:off x="4995049" y="1108957"/>
            <a:ext cx="3765493" cy="41857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dirty="0">
                <a:latin typeface="Times New Roman" panose="02020603050405020304" pitchFamily="18" charset="0"/>
                <a:cs typeface="Times New Roman" panose="02020603050405020304" pitchFamily="18" charset="0"/>
              </a:rPr>
              <a:t>Methods:</a:t>
            </a:r>
          </a:p>
          <a:p>
            <a:r>
              <a:rPr lang="en-US" b="1" dirty="0">
                <a:latin typeface="Times New Roman" panose="02020603050405020304" pitchFamily="18" charset="0"/>
                <a:cs typeface="Times New Roman" panose="02020603050405020304" pitchFamily="18" charset="0"/>
              </a:rPr>
              <a:t>Input Collection and Validation:</a:t>
            </a:r>
            <a:br>
              <a:rPr lang="en-US" b="1"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Frontend form gathers user's career goals; backend validates and preprocesses the data.</a:t>
            </a:r>
          </a:p>
          <a:p>
            <a:r>
              <a:rPr lang="en-US" b="1" dirty="0">
                <a:latin typeface="Times New Roman" panose="02020603050405020304" pitchFamily="18" charset="0"/>
                <a:cs typeface="Times New Roman" panose="02020603050405020304" pitchFamily="18" charset="0"/>
              </a:rPr>
              <a:t>Prompt Engineering:</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Backend constructs effective prompts embedding user goals to guide AI text generation towards structured roadmaps.</a:t>
            </a:r>
          </a:p>
          <a:p>
            <a:r>
              <a:rPr lang="en-US" b="1" dirty="0">
                <a:latin typeface="Times New Roman" panose="02020603050405020304" pitchFamily="18" charset="0"/>
                <a:cs typeface="Times New Roman" panose="02020603050405020304" pitchFamily="18" charset="0"/>
              </a:rPr>
              <a:t>AI Inference: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Integrate with AI models (either via APIs or local inference) to generate text-based career roadmaps.</a:t>
            </a:r>
          </a:p>
          <a:p>
            <a:r>
              <a:rPr lang="en-US" b="1" dirty="0">
                <a:latin typeface="Times New Roman" panose="02020603050405020304" pitchFamily="18" charset="0"/>
                <a:cs typeface="Times New Roman" panose="02020603050405020304" pitchFamily="18" charset="0"/>
              </a:rPr>
              <a:t>Data Parsing and Formatting:</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Process AI output to convert raw text into user-friendly formats—lists, timelines, or cards.</a:t>
            </a:r>
          </a:p>
          <a:p>
            <a:r>
              <a:rPr lang="en-US" b="1" dirty="0">
                <a:latin typeface="Times New Roman" panose="02020603050405020304" pitchFamily="18" charset="0"/>
                <a:cs typeface="Times New Roman" panose="02020603050405020304" pitchFamily="18" charset="0"/>
              </a:rPr>
              <a:t>Mentor Matching:</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Use algorithms or manual curation to pair users with suitable mentors based on expertise, interests, and availability.</a:t>
            </a:r>
          </a:p>
        </p:txBody>
      </p:sp>
      <p:sp>
        <p:nvSpPr>
          <p:cNvPr id="7" name="TextBox 6">
            <a:extLst>
              <a:ext uri="{FF2B5EF4-FFF2-40B4-BE49-F238E27FC236}">
                <a16:creationId xmlns:a16="http://schemas.microsoft.com/office/drawing/2014/main" id="{ACE0CC44-BD61-C464-A6A8-D7CCFF023198}"/>
              </a:ext>
            </a:extLst>
          </p:cNvPr>
          <p:cNvSpPr txBox="1"/>
          <p:nvPr/>
        </p:nvSpPr>
        <p:spPr>
          <a:xfrm>
            <a:off x="2633159" y="477725"/>
            <a:ext cx="4576916" cy="400110"/>
          </a:xfrm>
          <a:prstGeom prst="rect">
            <a:avLst/>
          </a:prstGeom>
          <a:noFill/>
        </p:spPr>
        <p:txBody>
          <a:bodyPr wrap="square">
            <a:spAutoFit/>
          </a:bodyPr>
          <a:lstStyle/>
          <a:p>
            <a:pPr marL="457200" marR="0" lvl="0" indent="-368300" algn="just" rtl="0">
              <a:lnSpc>
                <a:spcPct val="100000"/>
              </a:lnSpc>
              <a:spcBef>
                <a:spcPts val="0"/>
              </a:spcBef>
              <a:spcAft>
                <a:spcPts val="0"/>
              </a:spcAft>
              <a:buClr>
                <a:schemeClr val="dk1"/>
              </a:buClr>
              <a:buSzPts val="2200"/>
              <a:buFont typeface="Times New Roman"/>
              <a:buChar char="●"/>
            </a:pPr>
            <a:r>
              <a:rPr lang="en-US" sz="2000" dirty="0">
                <a:solidFill>
                  <a:schemeClr val="dk1"/>
                </a:solidFill>
                <a:latin typeface="Times New Roman"/>
                <a:ea typeface="Times New Roman"/>
                <a:cs typeface="Times New Roman"/>
                <a:sym typeface="Times New Roman"/>
              </a:rPr>
              <a:t>Concepts &amp; Methods</a:t>
            </a:r>
          </a:p>
        </p:txBody>
      </p:sp>
    </p:spTree>
    <p:extLst>
      <p:ext uri="{BB962C8B-B14F-4D97-AF65-F5344CB8AC3E}">
        <p14:creationId xmlns:p14="http://schemas.microsoft.com/office/powerpoint/2010/main" val="12922782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5">
          <a:extLst>
            <a:ext uri="{FF2B5EF4-FFF2-40B4-BE49-F238E27FC236}">
              <a16:creationId xmlns:a16="http://schemas.microsoft.com/office/drawing/2014/main" id="{48881F46-6879-90FE-E04B-3ADEE13EA188}"/>
            </a:ext>
          </a:extLst>
        </p:cNvPr>
        <p:cNvGrpSpPr/>
        <p:nvPr/>
      </p:nvGrpSpPr>
      <p:grpSpPr>
        <a:xfrm>
          <a:off x="0" y="0"/>
          <a:ext cx="0" cy="0"/>
          <a:chOff x="0" y="0"/>
          <a:chExt cx="0" cy="0"/>
        </a:xfrm>
      </p:grpSpPr>
      <p:sp>
        <p:nvSpPr>
          <p:cNvPr id="46" name="Google Shape;46;p2">
            <a:extLst>
              <a:ext uri="{FF2B5EF4-FFF2-40B4-BE49-F238E27FC236}">
                <a16:creationId xmlns:a16="http://schemas.microsoft.com/office/drawing/2014/main" id="{29A18D82-C8E8-9D98-D085-1164A6FAE263}"/>
              </a:ext>
            </a:extLst>
          </p:cNvPr>
          <p:cNvSpPr txBox="1"/>
          <p:nvPr/>
        </p:nvSpPr>
        <p:spPr>
          <a:xfrm>
            <a:off x="999854" y="5986743"/>
            <a:ext cx="7496601" cy="672897"/>
          </a:xfrm>
          <a:prstGeom prst="rect">
            <a:avLst/>
          </a:prstGeom>
          <a:noFill/>
          <a:ln>
            <a:noFill/>
          </a:ln>
        </p:spPr>
        <p:txBody>
          <a:bodyPr spcFirstLastPara="1" wrap="square" lIns="0" tIns="12700" rIns="0" bIns="0" anchor="t" anchorCtr="0">
            <a:noAutofit/>
          </a:bodyPr>
          <a:lstStyle/>
          <a:p>
            <a:pPr marL="12700" marR="0" lvl="0" indent="0" algn="ctr" rtl="0">
              <a:lnSpc>
                <a:spcPct val="100000"/>
              </a:lnSpc>
              <a:spcBef>
                <a:spcPts val="0"/>
              </a:spcBef>
              <a:spcAft>
                <a:spcPts val="0"/>
              </a:spcAft>
              <a:buClr>
                <a:srgbClr val="000000"/>
              </a:buClr>
              <a:buSzPts val="1800"/>
              <a:buFont typeface="Arial"/>
              <a:buNone/>
            </a:pPr>
            <a:r>
              <a:rPr lang="en-US" sz="1800" b="1" i="1" u="none" strike="noStrike" cap="none" dirty="0">
                <a:solidFill>
                  <a:srgbClr val="C00000"/>
                </a:solidFill>
                <a:latin typeface="Times New Roman"/>
                <a:ea typeface="Times New Roman"/>
                <a:cs typeface="Times New Roman"/>
                <a:sym typeface="Times New Roman"/>
              </a:rPr>
              <a:t>Department of Information Technology, </a:t>
            </a:r>
            <a:r>
              <a:rPr lang="en-US" sz="1800" b="1" i="1" u="none" strike="noStrike" cap="none" dirty="0" err="1">
                <a:solidFill>
                  <a:srgbClr val="C00000"/>
                </a:solidFill>
                <a:latin typeface="Times New Roman"/>
                <a:ea typeface="Times New Roman"/>
                <a:cs typeface="Times New Roman"/>
                <a:sym typeface="Times New Roman"/>
              </a:rPr>
              <a:t>MITSoC</a:t>
            </a:r>
            <a:r>
              <a:rPr lang="en-US" sz="1800" b="1" i="1" u="none" strike="noStrike" cap="none" dirty="0">
                <a:solidFill>
                  <a:srgbClr val="C00000"/>
                </a:solidFill>
                <a:latin typeface="Times New Roman"/>
                <a:ea typeface="Times New Roman"/>
                <a:cs typeface="Times New Roman"/>
                <a:sym typeface="Times New Roman"/>
              </a:rPr>
              <a:t>, Loni </a:t>
            </a:r>
            <a:r>
              <a:rPr lang="en-US" sz="1800" b="1" i="1" u="none" strike="noStrike" cap="none" dirty="0" err="1">
                <a:solidFill>
                  <a:srgbClr val="C00000"/>
                </a:solidFill>
                <a:latin typeface="Times New Roman"/>
                <a:ea typeface="Times New Roman"/>
                <a:cs typeface="Times New Roman"/>
                <a:sym typeface="Times New Roman"/>
              </a:rPr>
              <a:t>Kalbhor</a:t>
            </a:r>
            <a:endParaRPr sz="1800" b="1" i="1" u="none" strike="noStrike" cap="none" dirty="0">
              <a:solidFill>
                <a:srgbClr val="C00000"/>
              </a:solidFill>
              <a:latin typeface="Times New Roman"/>
              <a:ea typeface="Times New Roman"/>
              <a:cs typeface="Times New Roman"/>
              <a:sym typeface="Times New Roman"/>
            </a:endParaRPr>
          </a:p>
        </p:txBody>
      </p:sp>
      <p:sp>
        <p:nvSpPr>
          <p:cNvPr id="47" name="Google Shape;47;p2">
            <a:extLst>
              <a:ext uri="{FF2B5EF4-FFF2-40B4-BE49-F238E27FC236}">
                <a16:creationId xmlns:a16="http://schemas.microsoft.com/office/drawing/2014/main" id="{D3547ED4-1237-2D8B-AC60-EF161D7FC298}"/>
              </a:ext>
            </a:extLst>
          </p:cNvPr>
          <p:cNvSpPr/>
          <p:nvPr/>
        </p:nvSpPr>
        <p:spPr>
          <a:xfrm>
            <a:off x="2514600" y="3840480"/>
            <a:ext cx="3733800" cy="338700"/>
          </a:xfrm>
          <a:prstGeom prst="rect">
            <a:avLst/>
          </a:prstGeom>
          <a:noFill/>
          <a:ln>
            <a:noFill/>
          </a:ln>
        </p:spPr>
        <p:txBody>
          <a:bodyPr spcFirstLastPara="1" wrap="square" lIns="91425" tIns="45700" rIns="91425" bIns="45700" anchor="t" anchorCtr="0">
            <a:noAutofit/>
          </a:bodyPr>
          <a:lstStyle/>
          <a:p>
            <a:pPr marL="639762" marR="0" lvl="0" indent="-519112"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sp>
        <p:nvSpPr>
          <p:cNvPr id="49" name="Google Shape;49;p2">
            <a:extLst>
              <a:ext uri="{FF2B5EF4-FFF2-40B4-BE49-F238E27FC236}">
                <a16:creationId xmlns:a16="http://schemas.microsoft.com/office/drawing/2014/main" id="{75146D35-EBE2-5A79-7231-DE1A2225A856}"/>
              </a:ext>
            </a:extLst>
          </p:cNvPr>
          <p:cNvSpPr txBox="1"/>
          <p:nvPr/>
        </p:nvSpPr>
        <p:spPr>
          <a:xfrm>
            <a:off x="-474208" y="1481490"/>
            <a:ext cx="7496700" cy="40006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000" b="1" dirty="0">
                <a:latin typeface="Times New Roman"/>
                <a:ea typeface="Times New Roman"/>
                <a:cs typeface="Times New Roman"/>
                <a:sym typeface="Times New Roman"/>
              </a:rPr>
              <a:t>   </a:t>
            </a:r>
            <a:endParaRPr sz="2000" b="1" dirty="0">
              <a:latin typeface="Times New Roman"/>
              <a:ea typeface="Times New Roman"/>
              <a:cs typeface="Times New Roman"/>
              <a:sym typeface="Times New Roman"/>
            </a:endParaRPr>
          </a:p>
        </p:txBody>
      </p:sp>
      <p:pic>
        <p:nvPicPr>
          <p:cNvPr id="51" name="Google Shape;51;p2">
            <a:extLst>
              <a:ext uri="{FF2B5EF4-FFF2-40B4-BE49-F238E27FC236}">
                <a16:creationId xmlns:a16="http://schemas.microsoft.com/office/drawing/2014/main" id="{A6FC5A02-BE9B-F291-C8DC-2FACC78347E9}"/>
              </a:ext>
            </a:extLst>
          </p:cNvPr>
          <p:cNvPicPr preferRelativeResize="0"/>
          <p:nvPr/>
        </p:nvPicPr>
        <p:blipFill rotWithShape="1">
          <a:blip r:embed="rId3">
            <a:alphaModFix/>
          </a:blip>
          <a:srcRect/>
          <a:stretch/>
        </p:blipFill>
        <p:spPr>
          <a:xfrm>
            <a:off x="0" y="5812967"/>
            <a:ext cx="999854" cy="1020451"/>
          </a:xfrm>
          <a:prstGeom prst="rect">
            <a:avLst/>
          </a:prstGeom>
          <a:noFill/>
          <a:ln>
            <a:noFill/>
          </a:ln>
        </p:spPr>
      </p:pic>
      <p:sp>
        <p:nvSpPr>
          <p:cNvPr id="6" name="TextBox 5">
            <a:extLst>
              <a:ext uri="{FF2B5EF4-FFF2-40B4-BE49-F238E27FC236}">
                <a16:creationId xmlns:a16="http://schemas.microsoft.com/office/drawing/2014/main" id="{38983062-2F57-F799-3004-7E100872E198}"/>
              </a:ext>
            </a:extLst>
          </p:cNvPr>
          <p:cNvSpPr txBox="1"/>
          <p:nvPr/>
        </p:nvSpPr>
        <p:spPr>
          <a:xfrm>
            <a:off x="2802193" y="521499"/>
            <a:ext cx="7798365" cy="615553"/>
          </a:xfrm>
          <a:prstGeom prst="rect">
            <a:avLst/>
          </a:prstGeom>
          <a:noFill/>
        </p:spPr>
        <p:txBody>
          <a:bodyPr wrap="square">
            <a:spAutoFit/>
          </a:bodyPr>
          <a:lstStyle/>
          <a:p>
            <a:pPr marL="457200" marR="0" lvl="0" indent="-368300" algn="just" rtl="0">
              <a:lnSpc>
                <a:spcPct val="100000"/>
              </a:lnSpc>
              <a:spcBef>
                <a:spcPts val="0"/>
              </a:spcBef>
              <a:spcAft>
                <a:spcPts val="0"/>
              </a:spcAft>
              <a:buClr>
                <a:schemeClr val="dk1"/>
              </a:buClr>
              <a:buSzPts val="2200"/>
              <a:buFont typeface="Times New Roman"/>
              <a:buChar char="●"/>
            </a:pPr>
            <a:r>
              <a:rPr lang="en-US" sz="2000" dirty="0">
                <a:solidFill>
                  <a:schemeClr val="dk1"/>
                </a:solidFill>
                <a:latin typeface="Times New Roman"/>
                <a:ea typeface="Times New Roman"/>
                <a:cs typeface="Times New Roman"/>
                <a:sym typeface="Times New Roman"/>
              </a:rPr>
              <a:t>Implementation</a:t>
            </a:r>
          </a:p>
          <a:p>
            <a:pPr marL="88900" marR="0" lvl="0" algn="just" rtl="0">
              <a:lnSpc>
                <a:spcPct val="100000"/>
              </a:lnSpc>
              <a:spcBef>
                <a:spcPts val="0"/>
              </a:spcBef>
              <a:spcAft>
                <a:spcPts val="0"/>
              </a:spcAft>
              <a:buClr>
                <a:schemeClr val="dk1"/>
              </a:buClr>
              <a:buSzPts val="2200"/>
            </a:pPr>
            <a:endParaRPr lang="en-US" sz="14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p:txBody>
      </p:sp>
      <p:sp>
        <p:nvSpPr>
          <p:cNvPr id="3" name="TextBox 2">
            <a:extLst>
              <a:ext uri="{FF2B5EF4-FFF2-40B4-BE49-F238E27FC236}">
                <a16:creationId xmlns:a16="http://schemas.microsoft.com/office/drawing/2014/main" id="{462D0FE3-3FFC-1FE3-886A-B64AB5D8F129}"/>
              </a:ext>
            </a:extLst>
          </p:cNvPr>
          <p:cNvSpPr txBox="1"/>
          <p:nvPr/>
        </p:nvSpPr>
        <p:spPr>
          <a:xfrm>
            <a:off x="482317" y="1364222"/>
            <a:ext cx="7798365" cy="1708160"/>
          </a:xfrm>
          <a:prstGeom prst="rect">
            <a:avLst/>
          </a:prstGeom>
          <a:noFill/>
        </p:spPr>
        <p:txBody>
          <a:bodyPr wrap="square">
            <a:spAutoFit/>
          </a:bodyPr>
          <a:lstStyle/>
          <a:p>
            <a:pPr marL="28575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Short Implementation Summary:</a:t>
            </a:r>
          </a:p>
          <a:p>
            <a:pPr marL="28575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Use React.js for frontend forms and display.</a:t>
            </a:r>
          </a:p>
          <a:p>
            <a:pPr marL="28575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Backend with Node.js/Express to handle API requests and user authentication.</a:t>
            </a:r>
          </a:p>
          <a:p>
            <a:pPr marL="28575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Deploy local AI models (e.g., </a:t>
            </a:r>
            <a:r>
              <a:rPr lang="en-IN" sz="1500" dirty="0" err="1">
                <a:latin typeface="Times New Roman" panose="02020603050405020304" pitchFamily="18" charset="0"/>
                <a:cs typeface="Times New Roman" panose="02020603050405020304" pitchFamily="18" charset="0"/>
              </a:rPr>
              <a:t>LLaMA</a:t>
            </a:r>
            <a:r>
              <a:rPr lang="en-IN" sz="1500" dirty="0">
                <a:latin typeface="Times New Roman" panose="02020603050405020304" pitchFamily="18" charset="0"/>
                <a:cs typeface="Times New Roman" panose="02020603050405020304" pitchFamily="18" charset="0"/>
              </a:rPr>
              <a:t> 2) using Hugging Face for roadmap generation.</a:t>
            </a:r>
          </a:p>
          <a:p>
            <a:pPr marL="28575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Store user data, roadmaps, and mentors in MongoDB or PostgreSQL.</a:t>
            </a:r>
          </a:p>
          <a:p>
            <a:pPr marL="285750" indent="-285750">
              <a:buFont typeface="Arial" panose="020B0604020202020204" pitchFamily="34" charset="0"/>
              <a:buChar char="•"/>
            </a:pPr>
            <a:r>
              <a:rPr lang="en-IN" sz="1500" dirty="0">
                <a:latin typeface="Times New Roman" panose="02020603050405020304" pitchFamily="18" charset="0"/>
                <a:cs typeface="Times New Roman" panose="02020603050405020304" pitchFamily="18" charset="0"/>
              </a:rPr>
              <a:t>Implement mentor search, connection requests, and chat features.</a:t>
            </a:r>
          </a:p>
          <a:p>
            <a:endParaRPr lang="en-US" sz="1500" b="0" i="0"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782796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5">
          <a:extLst>
            <a:ext uri="{FF2B5EF4-FFF2-40B4-BE49-F238E27FC236}">
              <a16:creationId xmlns:a16="http://schemas.microsoft.com/office/drawing/2014/main" id="{36BF229A-5010-C941-8335-ED72879EAAC8}"/>
            </a:ext>
          </a:extLst>
        </p:cNvPr>
        <p:cNvGrpSpPr/>
        <p:nvPr/>
      </p:nvGrpSpPr>
      <p:grpSpPr>
        <a:xfrm>
          <a:off x="0" y="0"/>
          <a:ext cx="0" cy="0"/>
          <a:chOff x="0" y="0"/>
          <a:chExt cx="0" cy="0"/>
        </a:xfrm>
      </p:grpSpPr>
      <p:sp>
        <p:nvSpPr>
          <p:cNvPr id="46" name="Google Shape;46;p2">
            <a:extLst>
              <a:ext uri="{FF2B5EF4-FFF2-40B4-BE49-F238E27FC236}">
                <a16:creationId xmlns:a16="http://schemas.microsoft.com/office/drawing/2014/main" id="{961AB5CD-A0E4-223E-8785-2A8D39110DFA}"/>
              </a:ext>
            </a:extLst>
          </p:cNvPr>
          <p:cNvSpPr txBox="1"/>
          <p:nvPr/>
        </p:nvSpPr>
        <p:spPr>
          <a:xfrm>
            <a:off x="999854" y="5986743"/>
            <a:ext cx="7496601" cy="672897"/>
          </a:xfrm>
          <a:prstGeom prst="rect">
            <a:avLst/>
          </a:prstGeom>
          <a:noFill/>
          <a:ln>
            <a:noFill/>
          </a:ln>
        </p:spPr>
        <p:txBody>
          <a:bodyPr spcFirstLastPara="1" wrap="square" lIns="0" tIns="12700" rIns="0" bIns="0" anchor="t" anchorCtr="0">
            <a:noAutofit/>
          </a:bodyPr>
          <a:lstStyle/>
          <a:p>
            <a:pPr marL="12700" marR="0" lvl="0" indent="0" algn="ctr" rtl="0">
              <a:lnSpc>
                <a:spcPct val="100000"/>
              </a:lnSpc>
              <a:spcBef>
                <a:spcPts val="0"/>
              </a:spcBef>
              <a:spcAft>
                <a:spcPts val="0"/>
              </a:spcAft>
              <a:buClr>
                <a:srgbClr val="000000"/>
              </a:buClr>
              <a:buSzPts val="1800"/>
              <a:buFont typeface="Arial"/>
              <a:buNone/>
            </a:pPr>
            <a:r>
              <a:rPr lang="en-US" sz="1800" b="1" i="1" u="none" strike="noStrike" cap="none" dirty="0">
                <a:solidFill>
                  <a:srgbClr val="C00000"/>
                </a:solidFill>
                <a:latin typeface="Times New Roman"/>
                <a:ea typeface="Times New Roman"/>
                <a:cs typeface="Times New Roman"/>
                <a:sym typeface="Times New Roman"/>
              </a:rPr>
              <a:t>Department of Information Technology, </a:t>
            </a:r>
            <a:r>
              <a:rPr lang="en-US" sz="1800" b="1" i="1" u="none" strike="noStrike" cap="none" dirty="0" err="1">
                <a:solidFill>
                  <a:srgbClr val="C00000"/>
                </a:solidFill>
                <a:latin typeface="Times New Roman"/>
                <a:ea typeface="Times New Roman"/>
                <a:cs typeface="Times New Roman"/>
                <a:sym typeface="Times New Roman"/>
              </a:rPr>
              <a:t>MITSoC</a:t>
            </a:r>
            <a:r>
              <a:rPr lang="en-US" sz="1800" b="1" i="1" u="none" strike="noStrike" cap="none" dirty="0">
                <a:solidFill>
                  <a:srgbClr val="C00000"/>
                </a:solidFill>
                <a:latin typeface="Times New Roman"/>
                <a:ea typeface="Times New Roman"/>
                <a:cs typeface="Times New Roman"/>
                <a:sym typeface="Times New Roman"/>
              </a:rPr>
              <a:t>, Loni </a:t>
            </a:r>
            <a:r>
              <a:rPr lang="en-US" sz="1800" b="1" i="1" u="none" strike="noStrike" cap="none" dirty="0" err="1">
                <a:solidFill>
                  <a:srgbClr val="C00000"/>
                </a:solidFill>
                <a:latin typeface="Times New Roman"/>
                <a:ea typeface="Times New Roman"/>
                <a:cs typeface="Times New Roman"/>
                <a:sym typeface="Times New Roman"/>
              </a:rPr>
              <a:t>Kalbhor</a:t>
            </a:r>
            <a:endParaRPr sz="1800" b="1" i="1" u="none" strike="noStrike" cap="none" dirty="0">
              <a:solidFill>
                <a:srgbClr val="C00000"/>
              </a:solidFill>
              <a:latin typeface="Times New Roman"/>
              <a:ea typeface="Times New Roman"/>
              <a:cs typeface="Times New Roman"/>
              <a:sym typeface="Times New Roman"/>
            </a:endParaRPr>
          </a:p>
        </p:txBody>
      </p:sp>
      <p:sp>
        <p:nvSpPr>
          <p:cNvPr id="47" name="Google Shape;47;p2">
            <a:extLst>
              <a:ext uri="{FF2B5EF4-FFF2-40B4-BE49-F238E27FC236}">
                <a16:creationId xmlns:a16="http://schemas.microsoft.com/office/drawing/2014/main" id="{5A88422C-7018-B181-D357-F1DA86A07EFC}"/>
              </a:ext>
            </a:extLst>
          </p:cNvPr>
          <p:cNvSpPr/>
          <p:nvPr/>
        </p:nvSpPr>
        <p:spPr>
          <a:xfrm>
            <a:off x="2514600" y="3840480"/>
            <a:ext cx="3733800" cy="338700"/>
          </a:xfrm>
          <a:prstGeom prst="rect">
            <a:avLst/>
          </a:prstGeom>
          <a:noFill/>
          <a:ln>
            <a:noFill/>
          </a:ln>
        </p:spPr>
        <p:txBody>
          <a:bodyPr spcFirstLastPara="1" wrap="square" lIns="91425" tIns="45700" rIns="91425" bIns="45700" anchor="t" anchorCtr="0">
            <a:noAutofit/>
          </a:bodyPr>
          <a:lstStyle/>
          <a:p>
            <a:pPr marL="639762" marR="0" lvl="0" indent="-519112"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sp>
        <p:nvSpPr>
          <p:cNvPr id="49" name="Google Shape;49;p2">
            <a:extLst>
              <a:ext uri="{FF2B5EF4-FFF2-40B4-BE49-F238E27FC236}">
                <a16:creationId xmlns:a16="http://schemas.microsoft.com/office/drawing/2014/main" id="{ACADEF47-2398-383A-EF34-987B0DE83647}"/>
              </a:ext>
            </a:extLst>
          </p:cNvPr>
          <p:cNvSpPr txBox="1"/>
          <p:nvPr/>
        </p:nvSpPr>
        <p:spPr>
          <a:xfrm>
            <a:off x="823650" y="2285288"/>
            <a:ext cx="7496700" cy="40006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000" b="1" dirty="0">
                <a:latin typeface="Times New Roman"/>
                <a:ea typeface="Times New Roman"/>
                <a:cs typeface="Times New Roman"/>
                <a:sym typeface="Times New Roman"/>
              </a:rPr>
              <a:t>   </a:t>
            </a:r>
            <a:endParaRPr sz="2000" b="1" dirty="0">
              <a:latin typeface="Times New Roman"/>
              <a:ea typeface="Times New Roman"/>
              <a:cs typeface="Times New Roman"/>
              <a:sym typeface="Times New Roman"/>
            </a:endParaRPr>
          </a:p>
        </p:txBody>
      </p:sp>
      <p:pic>
        <p:nvPicPr>
          <p:cNvPr id="51" name="Google Shape;51;p2">
            <a:extLst>
              <a:ext uri="{FF2B5EF4-FFF2-40B4-BE49-F238E27FC236}">
                <a16:creationId xmlns:a16="http://schemas.microsoft.com/office/drawing/2014/main" id="{FA9A1EA6-45CD-B423-5DCC-A6E46CDF13DC}"/>
              </a:ext>
            </a:extLst>
          </p:cNvPr>
          <p:cNvPicPr preferRelativeResize="0"/>
          <p:nvPr/>
        </p:nvPicPr>
        <p:blipFill rotWithShape="1">
          <a:blip r:embed="rId3">
            <a:alphaModFix/>
          </a:blip>
          <a:srcRect/>
          <a:stretch/>
        </p:blipFill>
        <p:spPr>
          <a:xfrm>
            <a:off x="0" y="5812967"/>
            <a:ext cx="999854" cy="1020451"/>
          </a:xfrm>
          <a:prstGeom prst="rect">
            <a:avLst/>
          </a:prstGeom>
          <a:noFill/>
          <a:ln>
            <a:noFill/>
          </a:ln>
        </p:spPr>
      </p:pic>
      <p:sp>
        <p:nvSpPr>
          <p:cNvPr id="6" name="TextBox 5">
            <a:extLst>
              <a:ext uri="{FF2B5EF4-FFF2-40B4-BE49-F238E27FC236}">
                <a16:creationId xmlns:a16="http://schemas.microsoft.com/office/drawing/2014/main" id="{8E55B1A0-EC6F-832B-133F-8F76A4A68C7C}"/>
              </a:ext>
            </a:extLst>
          </p:cNvPr>
          <p:cNvSpPr txBox="1"/>
          <p:nvPr/>
        </p:nvSpPr>
        <p:spPr>
          <a:xfrm>
            <a:off x="1956617" y="755017"/>
            <a:ext cx="7639665" cy="615553"/>
          </a:xfrm>
          <a:prstGeom prst="rect">
            <a:avLst/>
          </a:prstGeom>
          <a:noFill/>
        </p:spPr>
        <p:txBody>
          <a:bodyPr wrap="square">
            <a:spAutoFit/>
          </a:bodyPr>
          <a:lstStyle/>
          <a:p>
            <a:pPr marL="374650" marR="0" lvl="0" indent="-285750" algn="just" rtl="0">
              <a:lnSpc>
                <a:spcPct val="100000"/>
              </a:lnSpc>
              <a:spcBef>
                <a:spcPts val="0"/>
              </a:spcBef>
              <a:spcAft>
                <a:spcPts val="0"/>
              </a:spcAft>
              <a:buClr>
                <a:schemeClr val="dk1"/>
              </a:buClr>
              <a:buSzPts val="2200"/>
              <a:buFont typeface="Arial" panose="020B0604020202020204" pitchFamily="34" charset="0"/>
              <a:buChar char="•"/>
            </a:pPr>
            <a:r>
              <a:rPr lang="en-US" sz="2000" dirty="0">
                <a:solidFill>
                  <a:schemeClr val="dk1"/>
                </a:solidFill>
                <a:latin typeface="Times New Roman" panose="02020603050405020304" pitchFamily="18" charset="0"/>
                <a:ea typeface="Times New Roman"/>
                <a:cs typeface="Times New Roman" panose="02020603050405020304" pitchFamily="18" charset="0"/>
                <a:sym typeface="Times New Roman"/>
              </a:rPr>
              <a:t>Identification of gaps &amp; scope of work</a:t>
            </a:r>
          </a:p>
          <a:p>
            <a:pPr marL="88900" marR="0" lvl="0" algn="just" rtl="0">
              <a:lnSpc>
                <a:spcPct val="100000"/>
              </a:lnSpc>
              <a:spcBef>
                <a:spcPts val="0"/>
              </a:spcBef>
              <a:spcAft>
                <a:spcPts val="0"/>
              </a:spcAft>
              <a:buClr>
                <a:schemeClr val="dk1"/>
              </a:buClr>
              <a:buSzPts val="2200"/>
            </a:pP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 </a:t>
            </a:r>
          </a:p>
        </p:txBody>
      </p:sp>
      <p:sp>
        <p:nvSpPr>
          <p:cNvPr id="2" name="Rectangle 1">
            <a:extLst>
              <a:ext uri="{FF2B5EF4-FFF2-40B4-BE49-F238E27FC236}">
                <a16:creationId xmlns:a16="http://schemas.microsoft.com/office/drawing/2014/main" id="{ED827D80-8868-5A03-CFB7-8C2486B1FEFF}"/>
              </a:ext>
            </a:extLst>
          </p:cNvPr>
          <p:cNvSpPr>
            <a:spLocks noChangeArrowheads="1"/>
          </p:cNvSpPr>
          <p:nvPr/>
        </p:nvSpPr>
        <p:spPr bwMode="auto">
          <a:xfrm>
            <a:off x="303973" y="1712634"/>
            <a:ext cx="888836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sp>
        <p:nvSpPr>
          <p:cNvPr id="3" name="Rectangle 2">
            <a:extLst>
              <a:ext uri="{FF2B5EF4-FFF2-40B4-BE49-F238E27FC236}">
                <a16:creationId xmlns:a16="http://schemas.microsoft.com/office/drawing/2014/main" id="{FB786407-A591-F7E7-BB63-19362C05E9DB}"/>
              </a:ext>
            </a:extLst>
          </p:cNvPr>
          <p:cNvSpPr>
            <a:spLocks noChangeArrowheads="1"/>
          </p:cNvSpPr>
          <p:nvPr/>
        </p:nvSpPr>
        <p:spPr bwMode="auto">
          <a:xfrm>
            <a:off x="303973" y="1241829"/>
            <a:ext cx="8525395"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500" dirty="0">
                <a:latin typeface="Times New Roman" panose="02020603050405020304" pitchFamily="18" charset="0"/>
                <a:cs typeface="Times New Roman" panose="02020603050405020304" pitchFamily="18" charset="0"/>
              </a:rPr>
              <a:t>The project focuses on developing a web-based platform that provides personalized career guidance through AI-generated roadmaps and facilitates mentorship connections. It addresses the challenge of navigating complex career paths by automating roadmap generation tailored to individual goals and offering human mentorship support to enhance decision-making and skill development.</a:t>
            </a:r>
          </a:p>
          <a:p>
            <a:endParaRPr lang="en-US" sz="1500" dirty="0">
              <a:latin typeface="Times New Roman" panose="02020603050405020304" pitchFamily="18" charset="0"/>
              <a:cs typeface="Times New Roman" panose="02020603050405020304" pitchFamily="18" charset="0"/>
            </a:endParaRPr>
          </a:p>
          <a:p>
            <a:r>
              <a:rPr lang="en-US" sz="1500" dirty="0">
                <a:latin typeface="Times New Roman" panose="02020603050405020304" pitchFamily="18" charset="0"/>
                <a:cs typeface="Times New Roman" panose="02020603050405020304" pitchFamily="18" charset="0"/>
              </a:rPr>
              <a:t>Scope of Work</a:t>
            </a:r>
          </a:p>
          <a:p>
            <a:r>
              <a:rPr lang="en-US" sz="1500" dirty="0">
                <a:latin typeface="Times New Roman" panose="02020603050405020304" pitchFamily="18" charset="0"/>
                <a:cs typeface="Times New Roman" panose="02020603050405020304" pitchFamily="18" charset="0"/>
              </a:rPr>
              <a:t>User Interface Development:</a:t>
            </a:r>
            <a:br>
              <a:rPr lang="en-US" sz="1500" dirty="0">
                <a:latin typeface="Times New Roman" panose="02020603050405020304" pitchFamily="18" charset="0"/>
                <a:cs typeface="Times New Roman" panose="02020603050405020304" pitchFamily="18" charset="0"/>
              </a:rPr>
            </a:br>
            <a:r>
              <a:rPr lang="en-US" sz="1500" dirty="0">
                <a:latin typeface="Times New Roman" panose="02020603050405020304" pitchFamily="18" charset="0"/>
                <a:cs typeface="Times New Roman" panose="02020603050405020304" pitchFamily="18" charset="0"/>
              </a:rPr>
              <a:t>Design and implement an intuitive frontend where users can input career goals, view generated roadmaps, and connect with mentors.</a:t>
            </a:r>
          </a:p>
          <a:p>
            <a:r>
              <a:rPr lang="en-US" sz="1500" dirty="0">
                <a:latin typeface="Times New Roman" panose="02020603050405020304" pitchFamily="18" charset="0"/>
                <a:cs typeface="Times New Roman" panose="02020603050405020304" pitchFamily="18" charset="0"/>
              </a:rPr>
              <a:t>Backend Development:</a:t>
            </a:r>
            <a:br>
              <a:rPr lang="en-US" sz="1500" dirty="0">
                <a:latin typeface="Times New Roman" panose="02020603050405020304" pitchFamily="18" charset="0"/>
                <a:cs typeface="Times New Roman" panose="02020603050405020304" pitchFamily="18" charset="0"/>
              </a:rPr>
            </a:br>
            <a:r>
              <a:rPr lang="en-US" sz="1500" dirty="0">
                <a:latin typeface="Times New Roman" panose="02020603050405020304" pitchFamily="18" charset="0"/>
                <a:cs typeface="Times New Roman" panose="02020603050405020304" pitchFamily="18" charset="0"/>
              </a:rPr>
              <a:t>Develop APIs to handle user requests, integrate with AI models for roadmap generation, and manage mentor-mentee connections.</a:t>
            </a:r>
          </a:p>
          <a:p>
            <a:r>
              <a:rPr lang="en-US" sz="1500" dirty="0">
                <a:latin typeface="Times New Roman" panose="02020603050405020304" pitchFamily="18" charset="0"/>
                <a:cs typeface="Times New Roman" panose="02020603050405020304" pitchFamily="18" charset="0"/>
              </a:rPr>
              <a:t>AI Integration:</a:t>
            </a:r>
            <a:br>
              <a:rPr lang="en-US" sz="1500" dirty="0">
                <a:latin typeface="Times New Roman" panose="02020603050405020304" pitchFamily="18" charset="0"/>
                <a:cs typeface="Times New Roman" panose="02020603050405020304" pitchFamily="18" charset="0"/>
              </a:rPr>
            </a:br>
            <a:r>
              <a:rPr lang="en-US" sz="1500" dirty="0">
                <a:latin typeface="Times New Roman" panose="02020603050405020304" pitchFamily="18" charset="0"/>
                <a:cs typeface="Times New Roman" panose="02020603050405020304" pitchFamily="18" charset="0"/>
              </a:rPr>
              <a:t>Integrate advanced NLP models to process user input and generate stepwise career roadmaps.</a:t>
            </a:r>
          </a:p>
          <a:p>
            <a:r>
              <a:rPr lang="en-US" sz="1500" dirty="0">
                <a:latin typeface="Times New Roman" panose="02020603050405020304" pitchFamily="18" charset="0"/>
                <a:cs typeface="Times New Roman" panose="02020603050405020304" pitchFamily="18" charset="0"/>
              </a:rPr>
              <a:t>Mentor Management:</a:t>
            </a:r>
            <a:br>
              <a:rPr lang="en-US" sz="1500" dirty="0">
                <a:latin typeface="Times New Roman" panose="02020603050405020304" pitchFamily="18" charset="0"/>
                <a:cs typeface="Times New Roman" panose="02020603050405020304" pitchFamily="18" charset="0"/>
              </a:rPr>
            </a:br>
            <a:endPar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123909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5">
          <a:extLst>
            <a:ext uri="{FF2B5EF4-FFF2-40B4-BE49-F238E27FC236}">
              <a16:creationId xmlns:a16="http://schemas.microsoft.com/office/drawing/2014/main" id="{AC194036-6E34-CD94-92B2-2829C7E5F7E8}"/>
            </a:ext>
          </a:extLst>
        </p:cNvPr>
        <p:cNvGrpSpPr/>
        <p:nvPr/>
      </p:nvGrpSpPr>
      <p:grpSpPr>
        <a:xfrm>
          <a:off x="0" y="0"/>
          <a:ext cx="0" cy="0"/>
          <a:chOff x="0" y="0"/>
          <a:chExt cx="0" cy="0"/>
        </a:xfrm>
      </p:grpSpPr>
      <p:sp>
        <p:nvSpPr>
          <p:cNvPr id="46" name="Google Shape;46;p2">
            <a:extLst>
              <a:ext uri="{FF2B5EF4-FFF2-40B4-BE49-F238E27FC236}">
                <a16:creationId xmlns:a16="http://schemas.microsoft.com/office/drawing/2014/main" id="{483B1761-FFAE-09A0-892D-6A0342BC2147}"/>
              </a:ext>
            </a:extLst>
          </p:cNvPr>
          <p:cNvSpPr txBox="1"/>
          <p:nvPr/>
        </p:nvSpPr>
        <p:spPr>
          <a:xfrm>
            <a:off x="999854" y="5986743"/>
            <a:ext cx="7496601" cy="672897"/>
          </a:xfrm>
          <a:prstGeom prst="rect">
            <a:avLst/>
          </a:prstGeom>
          <a:noFill/>
          <a:ln>
            <a:noFill/>
          </a:ln>
        </p:spPr>
        <p:txBody>
          <a:bodyPr spcFirstLastPara="1" wrap="square" lIns="0" tIns="12700" rIns="0" bIns="0" anchor="t" anchorCtr="0">
            <a:noAutofit/>
          </a:bodyPr>
          <a:lstStyle/>
          <a:p>
            <a:pPr marL="12700" marR="0" lvl="0" indent="0" algn="ctr" rtl="0">
              <a:lnSpc>
                <a:spcPct val="100000"/>
              </a:lnSpc>
              <a:spcBef>
                <a:spcPts val="0"/>
              </a:spcBef>
              <a:spcAft>
                <a:spcPts val="0"/>
              </a:spcAft>
              <a:buClr>
                <a:srgbClr val="000000"/>
              </a:buClr>
              <a:buSzPts val="1800"/>
              <a:buFont typeface="Arial"/>
              <a:buNone/>
            </a:pPr>
            <a:r>
              <a:rPr lang="en-US" sz="1800" b="1" i="1" u="none" strike="noStrike" cap="none" dirty="0">
                <a:solidFill>
                  <a:srgbClr val="C00000"/>
                </a:solidFill>
                <a:latin typeface="Times New Roman"/>
                <a:ea typeface="Times New Roman"/>
                <a:cs typeface="Times New Roman"/>
                <a:sym typeface="Times New Roman"/>
              </a:rPr>
              <a:t>Department of Information Technology, </a:t>
            </a:r>
            <a:r>
              <a:rPr lang="en-US" sz="1800" b="1" i="1" u="none" strike="noStrike" cap="none" dirty="0" err="1">
                <a:solidFill>
                  <a:srgbClr val="C00000"/>
                </a:solidFill>
                <a:latin typeface="Times New Roman"/>
                <a:ea typeface="Times New Roman"/>
                <a:cs typeface="Times New Roman"/>
                <a:sym typeface="Times New Roman"/>
              </a:rPr>
              <a:t>MITSoC</a:t>
            </a:r>
            <a:r>
              <a:rPr lang="en-US" sz="1800" b="1" i="1" u="none" strike="noStrike" cap="none" dirty="0">
                <a:solidFill>
                  <a:srgbClr val="C00000"/>
                </a:solidFill>
                <a:latin typeface="Times New Roman"/>
                <a:ea typeface="Times New Roman"/>
                <a:cs typeface="Times New Roman"/>
                <a:sym typeface="Times New Roman"/>
              </a:rPr>
              <a:t>, Loni </a:t>
            </a:r>
            <a:r>
              <a:rPr lang="en-US" sz="1800" b="1" i="1" u="none" strike="noStrike" cap="none" dirty="0" err="1">
                <a:solidFill>
                  <a:srgbClr val="C00000"/>
                </a:solidFill>
                <a:latin typeface="Times New Roman"/>
                <a:ea typeface="Times New Roman"/>
                <a:cs typeface="Times New Roman"/>
                <a:sym typeface="Times New Roman"/>
              </a:rPr>
              <a:t>Kalbhor</a:t>
            </a:r>
            <a:endParaRPr sz="1800" b="1" i="1" u="none" strike="noStrike" cap="none" dirty="0">
              <a:solidFill>
                <a:srgbClr val="C00000"/>
              </a:solidFill>
              <a:latin typeface="Times New Roman"/>
              <a:ea typeface="Times New Roman"/>
              <a:cs typeface="Times New Roman"/>
              <a:sym typeface="Times New Roman"/>
            </a:endParaRPr>
          </a:p>
        </p:txBody>
      </p:sp>
      <p:sp>
        <p:nvSpPr>
          <p:cNvPr id="47" name="Google Shape;47;p2">
            <a:extLst>
              <a:ext uri="{FF2B5EF4-FFF2-40B4-BE49-F238E27FC236}">
                <a16:creationId xmlns:a16="http://schemas.microsoft.com/office/drawing/2014/main" id="{DB9D3CB8-8FA4-92E5-880D-109747B00F20}"/>
              </a:ext>
            </a:extLst>
          </p:cNvPr>
          <p:cNvSpPr/>
          <p:nvPr/>
        </p:nvSpPr>
        <p:spPr>
          <a:xfrm>
            <a:off x="2514600" y="3840480"/>
            <a:ext cx="3733800" cy="338700"/>
          </a:xfrm>
          <a:prstGeom prst="rect">
            <a:avLst/>
          </a:prstGeom>
          <a:noFill/>
          <a:ln>
            <a:noFill/>
          </a:ln>
        </p:spPr>
        <p:txBody>
          <a:bodyPr spcFirstLastPara="1" wrap="square" lIns="91425" tIns="45700" rIns="91425" bIns="45700" anchor="t" anchorCtr="0">
            <a:noAutofit/>
          </a:bodyPr>
          <a:lstStyle/>
          <a:p>
            <a:pPr marL="639762" marR="0" lvl="0" indent="-519112"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sp>
        <p:nvSpPr>
          <p:cNvPr id="49" name="Google Shape;49;p2">
            <a:extLst>
              <a:ext uri="{FF2B5EF4-FFF2-40B4-BE49-F238E27FC236}">
                <a16:creationId xmlns:a16="http://schemas.microsoft.com/office/drawing/2014/main" id="{CA7060F4-7B95-AF23-E028-908D4D567286}"/>
              </a:ext>
            </a:extLst>
          </p:cNvPr>
          <p:cNvSpPr txBox="1"/>
          <p:nvPr/>
        </p:nvSpPr>
        <p:spPr>
          <a:xfrm>
            <a:off x="823650" y="2285288"/>
            <a:ext cx="7496700" cy="40006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000" b="1" dirty="0">
                <a:latin typeface="Times New Roman"/>
                <a:ea typeface="Times New Roman"/>
                <a:cs typeface="Times New Roman"/>
                <a:sym typeface="Times New Roman"/>
              </a:rPr>
              <a:t>   </a:t>
            </a:r>
            <a:endParaRPr sz="2000" b="1" dirty="0">
              <a:latin typeface="Times New Roman"/>
              <a:ea typeface="Times New Roman"/>
              <a:cs typeface="Times New Roman"/>
              <a:sym typeface="Times New Roman"/>
            </a:endParaRPr>
          </a:p>
        </p:txBody>
      </p:sp>
      <p:pic>
        <p:nvPicPr>
          <p:cNvPr id="51" name="Google Shape;51;p2">
            <a:extLst>
              <a:ext uri="{FF2B5EF4-FFF2-40B4-BE49-F238E27FC236}">
                <a16:creationId xmlns:a16="http://schemas.microsoft.com/office/drawing/2014/main" id="{6AADE7DD-6180-5FC7-C983-720F9443276B}"/>
              </a:ext>
            </a:extLst>
          </p:cNvPr>
          <p:cNvPicPr preferRelativeResize="0"/>
          <p:nvPr/>
        </p:nvPicPr>
        <p:blipFill rotWithShape="1">
          <a:blip r:embed="rId3">
            <a:alphaModFix/>
          </a:blip>
          <a:srcRect/>
          <a:stretch/>
        </p:blipFill>
        <p:spPr>
          <a:xfrm>
            <a:off x="0" y="5812967"/>
            <a:ext cx="999854" cy="1020451"/>
          </a:xfrm>
          <a:prstGeom prst="rect">
            <a:avLst/>
          </a:prstGeom>
          <a:noFill/>
          <a:ln>
            <a:noFill/>
          </a:ln>
        </p:spPr>
      </p:pic>
      <p:sp>
        <p:nvSpPr>
          <p:cNvPr id="6" name="TextBox 5">
            <a:extLst>
              <a:ext uri="{FF2B5EF4-FFF2-40B4-BE49-F238E27FC236}">
                <a16:creationId xmlns:a16="http://schemas.microsoft.com/office/drawing/2014/main" id="{C06A38EB-A4D7-0984-31E0-907C20985DFF}"/>
              </a:ext>
            </a:extLst>
          </p:cNvPr>
          <p:cNvSpPr txBox="1"/>
          <p:nvPr/>
        </p:nvSpPr>
        <p:spPr>
          <a:xfrm>
            <a:off x="3185649" y="40512"/>
            <a:ext cx="7639665" cy="523220"/>
          </a:xfrm>
          <a:prstGeom prst="rect">
            <a:avLst/>
          </a:prstGeom>
          <a:noFill/>
        </p:spPr>
        <p:txBody>
          <a:bodyPr wrap="square">
            <a:spAutoFit/>
          </a:bodyPr>
          <a:lstStyle/>
          <a:p>
            <a:pPr marL="88900" marR="0" lvl="0" algn="just" rtl="0">
              <a:lnSpc>
                <a:spcPct val="100000"/>
              </a:lnSpc>
              <a:spcBef>
                <a:spcPts val="0"/>
              </a:spcBef>
              <a:spcAft>
                <a:spcPts val="0"/>
              </a:spcAft>
              <a:buClr>
                <a:schemeClr val="dk1"/>
              </a:buClr>
              <a:buSzPts val="2200"/>
            </a:pP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FLOWCHART</a:t>
            </a:r>
          </a:p>
          <a:p>
            <a:pPr marL="88900" marR="0" lvl="0" algn="just" rtl="0">
              <a:lnSpc>
                <a:spcPct val="100000"/>
              </a:lnSpc>
              <a:spcBef>
                <a:spcPts val="0"/>
              </a:spcBef>
              <a:spcAft>
                <a:spcPts val="0"/>
              </a:spcAft>
              <a:buClr>
                <a:schemeClr val="dk1"/>
              </a:buClr>
              <a:buSzPts val="2200"/>
            </a:pP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 </a:t>
            </a:r>
          </a:p>
        </p:txBody>
      </p:sp>
      <p:sp>
        <p:nvSpPr>
          <p:cNvPr id="2" name="Rectangle 1">
            <a:extLst>
              <a:ext uri="{FF2B5EF4-FFF2-40B4-BE49-F238E27FC236}">
                <a16:creationId xmlns:a16="http://schemas.microsoft.com/office/drawing/2014/main" id="{2FB9E541-0D88-E42B-9843-C1BA4DC0385C}"/>
              </a:ext>
            </a:extLst>
          </p:cNvPr>
          <p:cNvSpPr>
            <a:spLocks noChangeArrowheads="1"/>
          </p:cNvSpPr>
          <p:nvPr/>
        </p:nvSpPr>
        <p:spPr bwMode="auto">
          <a:xfrm>
            <a:off x="303973" y="1712634"/>
            <a:ext cx="888836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pic>
        <p:nvPicPr>
          <p:cNvPr id="8" name="Picture 7">
            <a:extLst>
              <a:ext uri="{FF2B5EF4-FFF2-40B4-BE49-F238E27FC236}">
                <a16:creationId xmlns:a16="http://schemas.microsoft.com/office/drawing/2014/main" id="{DB1E8C58-9961-68E6-ADD2-CDD1BB0E03F0}"/>
              </a:ext>
            </a:extLst>
          </p:cNvPr>
          <p:cNvPicPr>
            <a:picLocks noChangeAspect="1"/>
          </p:cNvPicPr>
          <p:nvPr/>
        </p:nvPicPr>
        <p:blipFill>
          <a:blip r:embed="rId4"/>
          <a:stretch>
            <a:fillRect/>
          </a:stretch>
        </p:blipFill>
        <p:spPr>
          <a:xfrm>
            <a:off x="126993" y="441184"/>
            <a:ext cx="8268929" cy="5114042"/>
          </a:xfrm>
          <a:prstGeom prst="rect">
            <a:avLst/>
          </a:prstGeom>
        </p:spPr>
      </p:pic>
    </p:spTree>
    <p:extLst>
      <p:ext uri="{BB962C8B-B14F-4D97-AF65-F5344CB8AC3E}">
        <p14:creationId xmlns:p14="http://schemas.microsoft.com/office/powerpoint/2010/main" val="37269456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5">
          <a:extLst>
            <a:ext uri="{FF2B5EF4-FFF2-40B4-BE49-F238E27FC236}">
              <a16:creationId xmlns:a16="http://schemas.microsoft.com/office/drawing/2014/main" id="{45E9E9CD-2D46-BEEE-4033-AB234B865048}"/>
            </a:ext>
          </a:extLst>
        </p:cNvPr>
        <p:cNvGrpSpPr/>
        <p:nvPr/>
      </p:nvGrpSpPr>
      <p:grpSpPr>
        <a:xfrm>
          <a:off x="0" y="0"/>
          <a:ext cx="0" cy="0"/>
          <a:chOff x="0" y="0"/>
          <a:chExt cx="0" cy="0"/>
        </a:xfrm>
      </p:grpSpPr>
      <p:sp>
        <p:nvSpPr>
          <p:cNvPr id="46" name="Google Shape;46;p2">
            <a:extLst>
              <a:ext uri="{FF2B5EF4-FFF2-40B4-BE49-F238E27FC236}">
                <a16:creationId xmlns:a16="http://schemas.microsoft.com/office/drawing/2014/main" id="{BF219991-1FB3-74B5-5F4F-7478AC02B4F1}"/>
              </a:ext>
            </a:extLst>
          </p:cNvPr>
          <p:cNvSpPr txBox="1"/>
          <p:nvPr/>
        </p:nvSpPr>
        <p:spPr>
          <a:xfrm>
            <a:off x="999854" y="5986743"/>
            <a:ext cx="7496601" cy="672897"/>
          </a:xfrm>
          <a:prstGeom prst="rect">
            <a:avLst/>
          </a:prstGeom>
          <a:noFill/>
          <a:ln>
            <a:noFill/>
          </a:ln>
        </p:spPr>
        <p:txBody>
          <a:bodyPr spcFirstLastPara="1" wrap="square" lIns="0" tIns="12700" rIns="0" bIns="0" anchor="t" anchorCtr="0">
            <a:noAutofit/>
          </a:bodyPr>
          <a:lstStyle/>
          <a:p>
            <a:pPr marL="12700" marR="0" lvl="0" indent="0" algn="ctr" rtl="0">
              <a:lnSpc>
                <a:spcPct val="100000"/>
              </a:lnSpc>
              <a:spcBef>
                <a:spcPts val="0"/>
              </a:spcBef>
              <a:spcAft>
                <a:spcPts val="0"/>
              </a:spcAft>
              <a:buClr>
                <a:srgbClr val="000000"/>
              </a:buClr>
              <a:buSzPts val="1800"/>
              <a:buFont typeface="Arial"/>
              <a:buNone/>
            </a:pPr>
            <a:r>
              <a:rPr lang="en-US" sz="1800" b="1" i="1" u="none" strike="noStrike" cap="none" dirty="0">
                <a:solidFill>
                  <a:srgbClr val="C00000"/>
                </a:solidFill>
                <a:latin typeface="Times New Roman"/>
                <a:ea typeface="Times New Roman"/>
                <a:cs typeface="Times New Roman"/>
                <a:sym typeface="Times New Roman"/>
              </a:rPr>
              <a:t>Department of Information Technology, </a:t>
            </a:r>
            <a:r>
              <a:rPr lang="en-US" sz="1800" b="1" i="1" u="none" strike="noStrike" cap="none" dirty="0" err="1">
                <a:solidFill>
                  <a:srgbClr val="C00000"/>
                </a:solidFill>
                <a:latin typeface="Times New Roman"/>
                <a:ea typeface="Times New Roman"/>
                <a:cs typeface="Times New Roman"/>
                <a:sym typeface="Times New Roman"/>
              </a:rPr>
              <a:t>MITSoC</a:t>
            </a:r>
            <a:r>
              <a:rPr lang="en-US" sz="1800" b="1" i="1" u="none" strike="noStrike" cap="none" dirty="0">
                <a:solidFill>
                  <a:srgbClr val="C00000"/>
                </a:solidFill>
                <a:latin typeface="Times New Roman"/>
                <a:ea typeface="Times New Roman"/>
                <a:cs typeface="Times New Roman"/>
                <a:sym typeface="Times New Roman"/>
              </a:rPr>
              <a:t>, Loni </a:t>
            </a:r>
            <a:r>
              <a:rPr lang="en-US" sz="1800" b="1" i="1" u="none" strike="noStrike" cap="none" dirty="0" err="1">
                <a:solidFill>
                  <a:srgbClr val="C00000"/>
                </a:solidFill>
                <a:latin typeface="Times New Roman"/>
                <a:ea typeface="Times New Roman"/>
                <a:cs typeface="Times New Roman"/>
                <a:sym typeface="Times New Roman"/>
              </a:rPr>
              <a:t>Kalbhor</a:t>
            </a:r>
            <a:endParaRPr sz="1800" b="1" i="1" u="none" strike="noStrike" cap="none" dirty="0">
              <a:solidFill>
                <a:srgbClr val="C00000"/>
              </a:solidFill>
              <a:latin typeface="Times New Roman"/>
              <a:ea typeface="Times New Roman"/>
              <a:cs typeface="Times New Roman"/>
              <a:sym typeface="Times New Roman"/>
            </a:endParaRPr>
          </a:p>
        </p:txBody>
      </p:sp>
      <p:sp>
        <p:nvSpPr>
          <p:cNvPr id="47" name="Google Shape;47;p2">
            <a:extLst>
              <a:ext uri="{FF2B5EF4-FFF2-40B4-BE49-F238E27FC236}">
                <a16:creationId xmlns:a16="http://schemas.microsoft.com/office/drawing/2014/main" id="{8E3FB7BD-302E-E38D-50A5-C4F3BA11EAFC}"/>
              </a:ext>
            </a:extLst>
          </p:cNvPr>
          <p:cNvSpPr/>
          <p:nvPr/>
        </p:nvSpPr>
        <p:spPr>
          <a:xfrm>
            <a:off x="2514600" y="3840480"/>
            <a:ext cx="3733800" cy="338700"/>
          </a:xfrm>
          <a:prstGeom prst="rect">
            <a:avLst/>
          </a:prstGeom>
          <a:noFill/>
          <a:ln>
            <a:noFill/>
          </a:ln>
        </p:spPr>
        <p:txBody>
          <a:bodyPr spcFirstLastPara="1" wrap="square" lIns="91425" tIns="45700" rIns="91425" bIns="45700" anchor="t" anchorCtr="0">
            <a:noAutofit/>
          </a:bodyPr>
          <a:lstStyle/>
          <a:p>
            <a:pPr marL="639762" marR="0" lvl="0" indent="-519112" algn="l" rtl="0">
              <a:lnSpc>
                <a:spcPct val="100000"/>
              </a:lnSpc>
              <a:spcBef>
                <a:spcPts val="0"/>
              </a:spcBef>
              <a:spcAft>
                <a:spcPts val="0"/>
              </a:spcAft>
              <a:buClr>
                <a:srgbClr val="000000"/>
              </a:buClr>
              <a:buSzPts val="1600"/>
              <a:buFont typeface="Arial"/>
              <a:buNone/>
            </a:pPr>
            <a:endParaRPr sz="1600" b="0" i="0" u="none" strike="noStrike" cap="none">
              <a:solidFill>
                <a:schemeClr val="dk1"/>
              </a:solidFill>
              <a:latin typeface="Calibri"/>
              <a:ea typeface="Calibri"/>
              <a:cs typeface="Calibri"/>
              <a:sym typeface="Calibri"/>
            </a:endParaRPr>
          </a:p>
        </p:txBody>
      </p:sp>
      <p:sp>
        <p:nvSpPr>
          <p:cNvPr id="49" name="Google Shape;49;p2">
            <a:extLst>
              <a:ext uri="{FF2B5EF4-FFF2-40B4-BE49-F238E27FC236}">
                <a16:creationId xmlns:a16="http://schemas.microsoft.com/office/drawing/2014/main" id="{77B3B068-676E-BAF2-2741-422E53915A66}"/>
              </a:ext>
            </a:extLst>
          </p:cNvPr>
          <p:cNvSpPr txBox="1"/>
          <p:nvPr/>
        </p:nvSpPr>
        <p:spPr>
          <a:xfrm>
            <a:off x="823650" y="2285288"/>
            <a:ext cx="7496700" cy="400069"/>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2000" b="1" dirty="0">
                <a:latin typeface="Times New Roman"/>
                <a:ea typeface="Times New Roman"/>
                <a:cs typeface="Times New Roman"/>
                <a:sym typeface="Times New Roman"/>
              </a:rPr>
              <a:t>   </a:t>
            </a:r>
            <a:endParaRPr sz="2000" b="1" dirty="0">
              <a:latin typeface="Times New Roman"/>
              <a:ea typeface="Times New Roman"/>
              <a:cs typeface="Times New Roman"/>
              <a:sym typeface="Times New Roman"/>
            </a:endParaRPr>
          </a:p>
        </p:txBody>
      </p:sp>
      <p:pic>
        <p:nvPicPr>
          <p:cNvPr id="51" name="Google Shape;51;p2">
            <a:extLst>
              <a:ext uri="{FF2B5EF4-FFF2-40B4-BE49-F238E27FC236}">
                <a16:creationId xmlns:a16="http://schemas.microsoft.com/office/drawing/2014/main" id="{50571BB7-68D3-A06D-62AD-EB3CF5DDBF34}"/>
              </a:ext>
            </a:extLst>
          </p:cNvPr>
          <p:cNvPicPr preferRelativeResize="0"/>
          <p:nvPr/>
        </p:nvPicPr>
        <p:blipFill rotWithShape="1">
          <a:blip r:embed="rId3">
            <a:alphaModFix/>
          </a:blip>
          <a:srcRect/>
          <a:stretch/>
        </p:blipFill>
        <p:spPr>
          <a:xfrm>
            <a:off x="0" y="5812967"/>
            <a:ext cx="999854" cy="1020451"/>
          </a:xfrm>
          <a:prstGeom prst="rect">
            <a:avLst/>
          </a:prstGeom>
          <a:noFill/>
          <a:ln>
            <a:noFill/>
          </a:ln>
        </p:spPr>
      </p:pic>
      <p:sp>
        <p:nvSpPr>
          <p:cNvPr id="6" name="TextBox 5">
            <a:extLst>
              <a:ext uri="{FF2B5EF4-FFF2-40B4-BE49-F238E27FC236}">
                <a16:creationId xmlns:a16="http://schemas.microsoft.com/office/drawing/2014/main" id="{25468E82-8AD5-A6D8-9161-F47B5CCA9201}"/>
              </a:ext>
            </a:extLst>
          </p:cNvPr>
          <p:cNvSpPr txBox="1"/>
          <p:nvPr/>
        </p:nvSpPr>
        <p:spPr>
          <a:xfrm>
            <a:off x="1917288" y="540891"/>
            <a:ext cx="7639665" cy="307777"/>
          </a:xfrm>
          <a:prstGeom prst="rect">
            <a:avLst/>
          </a:prstGeom>
          <a:noFill/>
        </p:spPr>
        <p:txBody>
          <a:bodyPr wrap="square">
            <a:spAutoFit/>
          </a:bodyPr>
          <a:lstStyle/>
          <a:p>
            <a:pPr marL="88900" marR="0" lvl="0" algn="just" rtl="0">
              <a:lnSpc>
                <a:spcPct val="100000"/>
              </a:lnSpc>
              <a:spcBef>
                <a:spcPts val="0"/>
              </a:spcBef>
              <a:spcAft>
                <a:spcPts val="0"/>
              </a:spcAft>
              <a:buClr>
                <a:schemeClr val="dk1"/>
              </a:buClr>
              <a:buSzPts val="2200"/>
            </a:pPr>
            <a:r>
              <a:rPr lang="en-US" dirty="0">
                <a:solidFill>
                  <a:schemeClr val="dk1"/>
                </a:solidFill>
                <a:latin typeface="Times New Roman" panose="02020603050405020304" pitchFamily="18" charset="0"/>
                <a:ea typeface="Times New Roman"/>
                <a:cs typeface="Times New Roman" panose="02020603050405020304" pitchFamily="18" charset="0"/>
                <a:sym typeface="Times New Roman"/>
              </a:rPr>
              <a:t> </a:t>
            </a:r>
          </a:p>
        </p:txBody>
      </p:sp>
      <p:sp>
        <p:nvSpPr>
          <p:cNvPr id="2" name="Rectangle 1">
            <a:extLst>
              <a:ext uri="{FF2B5EF4-FFF2-40B4-BE49-F238E27FC236}">
                <a16:creationId xmlns:a16="http://schemas.microsoft.com/office/drawing/2014/main" id="{CC078D3C-58E5-9A74-A2EA-EBBAA809F80F}"/>
              </a:ext>
            </a:extLst>
          </p:cNvPr>
          <p:cNvSpPr>
            <a:spLocks noChangeArrowheads="1"/>
          </p:cNvSpPr>
          <p:nvPr/>
        </p:nvSpPr>
        <p:spPr bwMode="auto">
          <a:xfrm>
            <a:off x="303973" y="1712634"/>
            <a:ext cx="888836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tabLst/>
            </a:pPr>
            <a:r>
              <a:rPr kumimoji="0" lang="en-US" altLang="en-US"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p:txBody>
      </p:sp>
      <p:sp>
        <p:nvSpPr>
          <p:cNvPr id="3" name="Rectangle 2">
            <a:extLst>
              <a:ext uri="{FF2B5EF4-FFF2-40B4-BE49-F238E27FC236}">
                <a16:creationId xmlns:a16="http://schemas.microsoft.com/office/drawing/2014/main" id="{C617273E-355D-C73D-9005-758898AC7754}"/>
              </a:ext>
            </a:extLst>
          </p:cNvPr>
          <p:cNvSpPr>
            <a:spLocks noChangeArrowheads="1"/>
          </p:cNvSpPr>
          <p:nvPr/>
        </p:nvSpPr>
        <p:spPr bwMode="auto">
          <a:xfrm>
            <a:off x="303973" y="3132790"/>
            <a:ext cx="8525395" cy="323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kumimoji="0" lang="en-US" altLang="en-US" sz="15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694D5C1C-167E-FD59-96B2-CFAC298315FD}"/>
              </a:ext>
            </a:extLst>
          </p:cNvPr>
          <p:cNvPicPr>
            <a:picLocks noChangeAspect="1"/>
          </p:cNvPicPr>
          <p:nvPr/>
        </p:nvPicPr>
        <p:blipFill>
          <a:blip r:embed="rId4"/>
          <a:stretch>
            <a:fillRect/>
          </a:stretch>
        </p:blipFill>
        <p:spPr>
          <a:xfrm>
            <a:off x="1081549" y="363793"/>
            <a:ext cx="7000568" cy="5034117"/>
          </a:xfrm>
          <a:prstGeom prst="rect">
            <a:avLst/>
          </a:prstGeom>
        </p:spPr>
      </p:pic>
    </p:spTree>
    <p:extLst>
      <p:ext uri="{BB962C8B-B14F-4D97-AF65-F5344CB8AC3E}">
        <p14:creationId xmlns:p14="http://schemas.microsoft.com/office/powerpoint/2010/main" val="677386003"/>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720</TotalTime>
  <Words>912</Words>
  <Application>Microsoft Office PowerPoint</Application>
  <PresentationFormat>On-screen Show (4:3)</PresentationFormat>
  <Paragraphs>84</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Century Schoolbook</vt:lpstr>
      <vt:lpstr>Times New Roman</vt:lpstr>
      <vt:lpstr>Arial</vt:lpstr>
      <vt:lpstr>Calibri</vt:lpstr>
      <vt:lpstr>Office Theme</vt:lpstr>
      <vt:lpstr>PowerPoint Presentation</vt:lpstr>
      <vt:lpstr>Outline</vt:lpstr>
      <vt:lpstr>PowerPoint Presentation</vt:lpstr>
      <vt:lpstr>Problem statement </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Hp</dc:creator>
  <cp:lastModifiedBy>MRUNALI PATIL</cp:lastModifiedBy>
  <cp:revision>8</cp:revision>
  <dcterms:created xsi:type="dcterms:W3CDTF">2018-12-06T11:05:22Z</dcterms:created>
  <dcterms:modified xsi:type="dcterms:W3CDTF">2025-10-09T04:09:44Z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2017-02-01T00:00:00Z</vt:filetime>
  </property>
  <property fmtid="{D5CDD505-2E9C-101B-9397-08002B2CF9AE}" pid="3" name="Creator">
    <vt:lpwstr>Microsoft® Office PowerPoint® 2007</vt:lpwstr>
  </property>
  <property fmtid="{D5CDD505-2E9C-101B-9397-08002B2CF9AE}" pid="4" name="LastSaved">
    <vt:filetime>2018-12-06T00:00:00Z</vt:filetime>
  </property>
</Properties>
</file>