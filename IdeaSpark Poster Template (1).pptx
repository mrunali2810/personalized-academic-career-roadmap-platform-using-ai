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
  </p:notesMasterIdLst>
  <p:sldIdLst>
    <p:sldId id="256" r:id="rId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3840">
          <p15:clr>
            <a:srgbClr val="9AA0A6"/>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946" y="53"/>
      </p:cViewPr>
      <p:guideLst>
        <p:guide pos="3840"/>
        <p:guide orient="horz" pos="2160"/>
      </p:guideLst>
    </p:cSldViewPr>
  </p:slideViewPr>
  <p:notesTextViewPr>
    <p:cViewPr>
      <p:scale>
        <a:sx n="400" d="100"/>
        <a:sy n="40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a:spLocks noGrp="1"/>
          </p:cNvSpPr>
          <p:nvPr>
            <p:ph type="pic" idx="2"/>
          </p:nvPr>
        </p:nvSpPr>
        <p:spPr>
          <a:xfrm>
            <a:off x="5183188" y="987425"/>
            <a:ext cx="6172200" cy="4873625"/>
          </a:xfrm>
          <a:prstGeom prst="rect">
            <a:avLst/>
          </a:prstGeom>
          <a:noFill/>
          <a:ln>
            <a:noFill/>
          </a:ln>
        </p:spPr>
      </p:sp>
      <p:sp>
        <p:nvSpPr>
          <p:cNvPr id="64" name="Google Shape;64;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A picture containing logo&#10;&#10;Description automatically generated"/>
          <p:cNvPicPr preferRelativeResize="0"/>
          <p:nvPr/>
        </p:nvPicPr>
        <p:blipFill rotWithShape="1">
          <a:blip r:embed="rId3">
            <a:alphaModFix/>
          </a:blip>
          <a:srcRect/>
          <a:stretch/>
        </p:blipFill>
        <p:spPr>
          <a:xfrm>
            <a:off x="153573" y="81285"/>
            <a:ext cx="2920931" cy="1354217"/>
          </a:xfrm>
          <a:prstGeom prst="rect">
            <a:avLst/>
          </a:prstGeom>
          <a:noFill/>
          <a:ln>
            <a:noFill/>
          </a:ln>
        </p:spPr>
      </p:pic>
      <p:sp>
        <p:nvSpPr>
          <p:cNvPr id="85" name="Google Shape;85;p13"/>
          <p:cNvSpPr txBox="1"/>
          <p:nvPr/>
        </p:nvSpPr>
        <p:spPr>
          <a:xfrm>
            <a:off x="3074503" y="843660"/>
            <a:ext cx="9030899" cy="1133860"/>
          </a:xfrm>
          <a:prstGeom prst="rect">
            <a:avLst/>
          </a:prstGeom>
          <a:solidFill>
            <a:srgbClr val="2F5496"/>
          </a:solidFill>
          <a:ln>
            <a:noFill/>
          </a:ln>
        </p:spPr>
        <p:txBody>
          <a:bodyPr spcFirstLastPara="1" wrap="square" lIns="91425" tIns="45700" rIns="0" bIns="45700" anchor="t" anchorCtr="0">
            <a:spAutoFit/>
          </a:bodyPr>
          <a:lstStyle/>
          <a:p>
            <a:pPr marL="0" marR="0" lvl="0" indent="0" algn="ctr" rtl="0">
              <a:lnSpc>
                <a:spcPct val="100000"/>
              </a:lnSpc>
              <a:spcBef>
                <a:spcPts val="0"/>
              </a:spcBef>
              <a:spcAft>
                <a:spcPts val="0"/>
              </a:spcAft>
              <a:buNone/>
            </a:pPr>
            <a:r>
              <a:rPr lang="en-US" sz="1800" b="0" i="0" u="none" strike="noStrike" cap="none" dirty="0">
                <a:solidFill>
                  <a:schemeClr val="lt1"/>
                </a:solidFill>
                <a:latin typeface="Century"/>
                <a:ea typeface="Century"/>
                <a:cs typeface="Century"/>
                <a:sym typeface="Century"/>
              </a:rPr>
              <a:t>DEPARTMENT OF INFORMATION TECHNOLOGY</a:t>
            </a:r>
            <a:endParaRPr sz="1800" b="0" i="0" u="none" strike="noStrike" cap="none" dirty="0">
              <a:solidFill>
                <a:schemeClr val="lt1"/>
              </a:solidFill>
              <a:latin typeface="Century"/>
              <a:ea typeface="Century"/>
              <a:cs typeface="Century"/>
              <a:sym typeface="Century"/>
            </a:endParaRPr>
          </a:p>
          <a:p>
            <a:pPr lvl="0" algn="ctr">
              <a:lnSpc>
                <a:spcPct val="107916"/>
              </a:lnSpc>
              <a:buClr>
                <a:schemeClr val="dk1"/>
              </a:buClr>
              <a:buSzPts val="1100"/>
            </a:pPr>
            <a:r>
              <a:rPr lang="en-US" sz="2800" b="1" dirty="0">
                <a:solidFill>
                  <a:schemeClr val="bg1">
                    <a:lumMod val="95000"/>
                  </a:schemeClr>
                </a:solidFill>
                <a:latin typeface="Times New Roman" panose="02020603050405020304" pitchFamily="18" charset="0"/>
                <a:cs typeface="Times New Roman" panose="02020603050405020304" pitchFamily="18" charset="0"/>
              </a:rPr>
              <a:t>Personalized Academic &amp; Career Roadmap Platform</a:t>
            </a:r>
          </a:p>
          <a:p>
            <a:pPr lvl="0" algn="ctr">
              <a:lnSpc>
                <a:spcPct val="107916"/>
              </a:lnSpc>
              <a:buClr>
                <a:schemeClr val="dk1"/>
              </a:buClr>
              <a:buSzPts val="1100"/>
            </a:pPr>
            <a:r>
              <a:rPr lang="en-US" sz="1800" i="1" dirty="0">
                <a:solidFill>
                  <a:schemeClr val="lt1"/>
                </a:solidFill>
                <a:latin typeface="Calibri"/>
                <a:ea typeface="Calibri"/>
                <a:cs typeface="Calibri"/>
                <a:sym typeface="Calibri"/>
              </a:rPr>
              <a:t>Jagruti </a:t>
            </a:r>
            <a:r>
              <a:rPr lang="en-US" sz="1800" i="1" dirty="0" err="1">
                <a:solidFill>
                  <a:schemeClr val="lt1"/>
                </a:solidFill>
                <a:latin typeface="Calibri"/>
                <a:ea typeface="Calibri"/>
                <a:cs typeface="Calibri"/>
                <a:sym typeface="Calibri"/>
              </a:rPr>
              <a:t>ghonge,Mrunali</a:t>
            </a:r>
            <a:r>
              <a:rPr lang="en-US" sz="1800" i="1" dirty="0">
                <a:solidFill>
                  <a:schemeClr val="lt1"/>
                </a:solidFill>
                <a:latin typeface="Calibri"/>
                <a:ea typeface="Calibri"/>
                <a:cs typeface="Calibri"/>
                <a:sym typeface="Calibri"/>
              </a:rPr>
              <a:t> </a:t>
            </a:r>
            <a:r>
              <a:rPr lang="en-US" sz="1800" i="1" dirty="0" err="1">
                <a:solidFill>
                  <a:schemeClr val="lt1"/>
                </a:solidFill>
                <a:latin typeface="Calibri"/>
                <a:ea typeface="Calibri"/>
                <a:cs typeface="Calibri"/>
                <a:sym typeface="Calibri"/>
              </a:rPr>
              <a:t>patil,Abhijeet</a:t>
            </a:r>
            <a:r>
              <a:rPr lang="en-US" sz="1800" i="1" dirty="0">
                <a:solidFill>
                  <a:schemeClr val="lt1"/>
                </a:solidFill>
                <a:latin typeface="Calibri"/>
                <a:ea typeface="Calibri"/>
                <a:cs typeface="Calibri"/>
                <a:sym typeface="Calibri"/>
              </a:rPr>
              <a:t> </a:t>
            </a:r>
            <a:r>
              <a:rPr lang="en-US" sz="1800" i="1" dirty="0" err="1">
                <a:solidFill>
                  <a:schemeClr val="lt1"/>
                </a:solidFill>
                <a:latin typeface="Calibri"/>
                <a:ea typeface="Calibri"/>
                <a:cs typeface="Calibri"/>
                <a:sym typeface="Calibri"/>
              </a:rPr>
              <a:t>shirke,Anas</a:t>
            </a:r>
            <a:r>
              <a:rPr lang="en-US" sz="1800" i="1" dirty="0">
                <a:solidFill>
                  <a:schemeClr val="lt1"/>
                </a:solidFill>
                <a:latin typeface="Calibri"/>
                <a:ea typeface="Calibri"/>
                <a:cs typeface="Calibri"/>
                <a:sym typeface="Calibri"/>
              </a:rPr>
              <a:t> shaikh</a:t>
            </a:r>
            <a:endParaRPr dirty="0"/>
          </a:p>
        </p:txBody>
      </p:sp>
      <p:sp>
        <p:nvSpPr>
          <p:cNvPr id="86" name="Google Shape;86;p13"/>
          <p:cNvSpPr txBox="1"/>
          <p:nvPr/>
        </p:nvSpPr>
        <p:spPr>
          <a:xfrm>
            <a:off x="153573" y="1435502"/>
            <a:ext cx="2869500" cy="600124"/>
          </a:xfrm>
          <a:prstGeom prst="rect">
            <a:avLst/>
          </a:prstGeom>
          <a:solidFill>
            <a:srgbClr val="FEE599"/>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dirty="0">
                <a:solidFill>
                  <a:schemeClr val="dk1"/>
                </a:solidFill>
                <a:latin typeface="Calibri"/>
                <a:ea typeface="Calibri"/>
                <a:cs typeface="Calibri"/>
                <a:sym typeface="Calibri"/>
              </a:rPr>
              <a:t>Faculty Guide:</a:t>
            </a:r>
            <a:endParaRPr lang="en-US" sz="1700" b="1"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US" sz="1700" b="1" dirty="0">
                <a:solidFill>
                  <a:schemeClr val="dk1"/>
                </a:solidFill>
                <a:latin typeface="Calibri"/>
                <a:ea typeface="Calibri"/>
                <a:cs typeface="Calibri"/>
                <a:sym typeface="Calibri"/>
              </a:rPr>
              <a:t>Prof. Palash Sontakke </a:t>
            </a:r>
            <a:endParaRPr dirty="0"/>
          </a:p>
        </p:txBody>
      </p:sp>
      <p:sp>
        <p:nvSpPr>
          <p:cNvPr id="87" name="Google Shape;87;p13"/>
          <p:cNvSpPr txBox="1"/>
          <p:nvPr/>
        </p:nvSpPr>
        <p:spPr>
          <a:xfrm>
            <a:off x="13013334" y="-393524"/>
            <a:ext cx="4927697" cy="6155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Calibri"/>
                <a:ea typeface="Calibri"/>
                <a:cs typeface="Calibri"/>
                <a:sym typeface="Calibri"/>
              </a:rPr>
              <a:t>Proposed Architecture/ Diagram:</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8" name="Google Shape;88;p13"/>
          <p:cNvSpPr txBox="1"/>
          <p:nvPr/>
        </p:nvSpPr>
        <p:spPr>
          <a:xfrm>
            <a:off x="3074504" y="170085"/>
            <a:ext cx="7420624" cy="584775"/>
          </a:xfrm>
          <a:prstGeom prst="rect">
            <a:avLst/>
          </a:prstGeom>
          <a:solidFill>
            <a:srgbClr val="B3C6E7"/>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0" i="0" u="none" strike="noStrike" cap="none">
                <a:solidFill>
                  <a:srgbClr val="323F4F"/>
                </a:solidFill>
                <a:latin typeface="Century"/>
                <a:ea typeface="Century"/>
                <a:cs typeface="Century"/>
                <a:sym typeface="Century"/>
              </a:rPr>
              <a:t>MIT SCHOOL OF COMPUTING </a:t>
            </a:r>
            <a:endParaRPr sz="3200" b="0" i="0" u="none" strike="noStrike" cap="none">
              <a:solidFill>
                <a:srgbClr val="323F4F"/>
              </a:solidFill>
              <a:latin typeface="Century"/>
              <a:ea typeface="Century"/>
              <a:cs typeface="Century"/>
              <a:sym typeface="Century"/>
            </a:endParaRPr>
          </a:p>
        </p:txBody>
      </p:sp>
      <p:sp>
        <p:nvSpPr>
          <p:cNvPr id="89" name="Google Shape;89;p13"/>
          <p:cNvSpPr txBox="1"/>
          <p:nvPr/>
        </p:nvSpPr>
        <p:spPr>
          <a:xfrm>
            <a:off x="-3345986" y="2629235"/>
            <a:ext cx="28695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0" name="Google Shape;90;p13"/>
          <p:cNvSpPr txBox="1"/>
          <p:nvPr/>
        </p:nvSpPr>
        <p:spPr>
          <a:xfrm>
            <a:off x="-45984" y="5268517"/>
            <a:ext cx="4529136" cy="1454204"/>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500" b="1" i="0" u="none" strike="noStrike" cap="none" dirty="0">
                <a:solidFill>
                  <a:schemeClr val="dk1"/>
                </a:solidFill>
              </a:rPr>
              <a:t>Problem </a:t>
            </a:r>
            <a:r>
              <a:rPr lang="en-US" sz="1500" b="1" dirty="0">
                <a:solidFill>
                  <a:schemeClr val="dk1"/>
                </a:solidFill>
              </a:rPr>
              <a:t>statement</a:t>
            </a:r>
          </a:p>
          <a:p>
            <a:pPr lvl="0" algn="ctr"/>
            <a:r>
              <a:rPr lang="en-US" sz="1050" dirty="0"/>
              <a:t>Students in technology fields struggle with career planning due to lack of personalized guidance that matches their academic performance and interests with market demands. The overwhelming number of courses and certifications creates confusion about optimal career paths. Without integrated systems connecting academic history to career goals, students cannot create effective professional roadmaps, resulting in skill gaps and reduced employability upon graduation.</a:t>
            </a:r>
            <a:endParaRPr sz="1050" dirty="0"/>
          </a:p>
        </p:txBody>
      </p:sp>
      <p:sp>
        <p:nvSpPr>
          <p:cNvPr id="91" name="Google Shape;91;p13"/>
          <p:cNvSpPr txBox="1"/>
          <p:nvPr/>
        </p:nvSpPr>
        <p:spPr>
          <a:xfrm>
            <a:off x="4524435" y="5260823"/>
            <a:ext cx="3861729" cy="1631175"/>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600" b="1" i="0" u="none" strike="noStrike" cap="none" dirty="0">
                <a:solidFill>
                  <a:schemeClr val="dk1"/>
                </a:solidFill>
              </a:rPr>
              <a:t>Proposed Solution</a:t>
            </a:r>
          </a:p>
          <a:p>
            <a:pPr marL="0" marR="0" lvl="0" indent="0" algn="ctr" rtl="0">
              <a:lnSpc>
                <a:spcPct val="100000"/>
              </a:lnSpc>
              <a:spcBef>
                <a:spcPts val="0"/>
              </a:spcBef>
              <a:spcAft>
                <a:spcPts val="0"/>
              </a:spcAft>
              <a:buNone/>
            </a:pPr>
            <a:r>
              <a:rPr lang="en-US" sz="1050" dirty="0"/>
              <a:t>platform use AI to analyze users’ academic records, interests, and skills, generating a personalized roadmap with suggested courses, certifications, and career paths. Users will monitor their progress through interactive dashboards and , access curated resources for upskilling, and connect with mentors or peers for targeted  networking. The system will ensure secure data management and  empowering users to make informed decisions and maximize their career opportunities.</a:t>
            </a:r>
            <a:endParaRPr lang="en-US" sz="1050" b="1" i="0" u="none" strike="noStrike" cap="none" dirty="0">
              <a:solidFill>
                <a:schemeClr val="dk1"/>
              </a:solidFill>
            </a:endParaRPr>
          </a:p>
        </p:txBody>
      </p:sp>
      <p:sp>
        <p:nvSpPr>
          <p:cNvPr id="92" name="Google Shape;92;p13"/>
          <p:cNvSpPr txBox="1"/>
          <p:nvPr/>
        </p:nvSpPr>
        <p:spPr>
          <a:xfrm>
            <a:off x="8427447" y="5253128"/>
            <a:ext cx="3430483" cy="146959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600" b="1" i="0" u="none" strike="noStrike" cap="none" dirty="0">
                <a:solidFill>
                  <a:schemeClr val="dk1"/>
                </a:solidFill>
              </a:rPr>
              <a:t>Scope and Feasibility</a:t>
            </a:r>
          </a:p>
          <a:p>
            <a:pPr lvl="0" algn="ctr"/>
            <a:r>
              <a:rPr lang="en-US" sz="1050" dirty="0"/>
              <a:t>The platform offers personalized academic and career guidance using student data and AI analysis, with scalable features for resource recommendations, progress tracking, and mentor connections. It is practical and achievable with current web technologies and AI tools, making it suitable for educational and professional development use.</a:t>
            </a:r>
            <a:endParaRPr lang="en-US" sz="1050" b="1" i="0" u="none" strike="noStrike" cap="none" dirty="0">
              <a:solidFill>
                <a:schemeClr val="dk1"/>
              </a:solidFill>
            </a:endParaRPr>
          </a:p>
        </p:txBody>
      </p:sp>
      <p:sp>
        <p:nvSpPr>
          <p:cNvPr id="93" name="Google Shape;93;p13"/>
          <p:cNvSpPr txBox="1"/>
          <p:nvPr/>
        </p:nvSpPr>
        <p:spPr>
          <a:xfrm>
            <a:off x="10495128" y="170085"/>
            <a:ext cx="1610275" cy="584735"/>
          </a:xfrm>
          <a:prstGeom prst="rect">
            <a:avLst/>
          </a:prstGeom>
          <a:solidFill>
            <a:srgbClr val="FEE599"/>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dirty="0" err="1">
                <a:solidFill>
                  <a:schemeClr val="dk1"/>
                </a:solidFill>
                <a:latin typeface="Calibri"/>
                <a:ea typeface="Calibri"/>
                <a:cs typeface="Calibri"/>
                <a:sym typeface="Calibri"/>
              </a:rPr>
              <a:t>Class</a:t>
            </a:r>
            <a:r>
              <a:rPr lang="en-US" sz="1600" b="1" dirty="0" err="1">
                <a:solidFill>
                  <a:schemeClr val="dk1"/>
                </a:solidFill>
                <a:latin typeface="Calibri"/>
                <a:ea typeface="Calibri"/>
                <a:cs typeface="Calibri"/>
                <a:sym typeface="Calibri"/>
              </a:rPr>
              <a:t>:TY</a:t>
            </a:r>
            <a:r>
              <a:rPr lang="en-US" sz="1600" b="1" dirty="0">
                <a:solidFill>
                  <a:schemeClr val="dk1"/>
                </a:solidFill>
                <a:latin typeface="Calibri"/>
                <a:ea typeface="Calibri"/>
                <a:cs typeface="Calibri"/>
                <a:sym typeface="Calibri"/>
              </a:rPr>
              <a:t> </a:t>
            </a:r>
            <a:r>
              <a:rPr lang="en-US" sz="1100" b="1" dirty="0">
                <a:solidFill>
                  <a:schemeClr val="dk1"/>
                </a:solidFill>
                <a:latin typeface="Calibri"/>
                <a:ea typeface="Calibri"/>
                <a:cs typeface="Calibri"/>
                <a:sym typeface="Calibri"/>
              </a:rPr>
              <a:t>DA&amp;CORE</a:t>
            </a:r>
            <a:endParaRPr sz="1100" dirty="0"/>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dirty="0">
                <a:solidFill>
                  <a:schemeClr val="dk1"/>
                </a:solidFill>
                <a:latin typeface="Calibri"/>
                <a:ea typeface="Calibri"/>
                <a:cs typeface="Calibri"/>
                <a:sym typeface="Calibri"/>
              </a:rPr>
              <a:t>Group Id: </a:t>
            </a:r>
            <a:r>
              <a:rPr lang="en-US" sz="1600" b="1" dirty="0">
                <a:solidFill>
                  <a:schemeClr val="dk1"/>
                </a:solidFill>
                <a:latin typeface="Calibri"/>
                <a:ea typeface="Calibri"/>
                <a:cs typeface="Calibri"/>
                <a:sym typeface="Calibri"/>
              </a:rPr>
              <a:t>33</a:t>
            </a:r>
            <a:endParaRPr dirty="0"/>
          </a:p>
        </p:txBody>
      </p:sp>
      <p:pic>
        <p:nvPicPr>
          <p:cNvPr id="3" name="Picture 2">
            <a:extLst>
              <a:ext uri="{FF2B5EF4-FFF2-40B4-BE49-F238E27FC236}">
                <a16:creationId xmlns:a16="http://schemas.microsoft.com/office/drawing/2014/main" id="{B9FFDD8A-70D9-654E-68AB-B1303EFD3581}"/>
              </a:ext>
            </a:extLst>
          </p:cNvPr>
          <p:cNvPicPr>
            <a:picLocks noChangeAspect="1"/>
          </p:cNvPicPr>
          <p:nvPr/>
        </p:nvPicPr>
        <p:blipFill>
          <a:blip r:embed="rId4"/>
          <a:stretch>
            <a:fillRect/>
          </a:stretch>
        </p:blipFill>
        <p:spPr>
          <a:xfrm>
            <a:off x="8427447" y="2122323"/>
            <a:ext cx="3677956" cy="3019855"/>
          </a:xfrm>
          <a:prstGeom prst="rect">
            <a:avLst/>
          </a:prstGeom>
        </p:spPr>
      </p:pic>
      <p:pic>
        <p:nvPicPr>
          <p:cNvPr id="9" name="Picture 8">
            <a:extLst>
              <a:ext uri="{FF2B5EF4-FFF2-40B4-BE49-F238E27FC236}">
                <a16:creationId xmlns:a16="http://schemas.microsoft.com/office/drawing/2014/main" id="{80C8C15B-48D3-B368-D7B1-2A7F99CB320F}"/>
              </a:ext>
            </a:extLst>
          </p:cNvPr>
          <p:cNvPicPr>
            <a:picLocks noChangeAspect="1"/>
          </p:cNvPicPr>
          <p:nvPr/>
        </p:nvPicPr>
        <p:blipFill>
          <a:blip r:embed="rId5"/>
          <a:stretch>
            <a:fillRect/>
          </a:stretch>
        </p:blipFill>
        <p:spPr>
          <a:xfrm>
            <a:off x="4524435" y="2147213"/>
            <a:ext cx="3861729" cy="3088720"/>
          </a:xfrm>
          <a:prstGeom prst="rect">
            <a:avLst/>
          </a:prstGeom>
        </p:spPr>
      </p:pic>
      <p:pic>
        <p:nvPicPr>
          <p:cNvPr id="13" name="Picture 12">
            <a:extLst>
              <a:ext uri="{FF2B5EF4-FFF2-40B4-BE49-F238E27FC236}">
                <a16:creationId xmlns:a16="http://schemas.microsoft.com/office/drawing/2014/main" id="{A98D3965-EF25-C893-F1AC-C1A155810136}"/>
              </a:ext>
            </a:extLst>
          </p:cNvPr>
          <p:cNvPicPr>
            <a:picLocks noChangeAspect="1"/>
          </p:cNvPicPr>
          <p:nvPr/>
        </p:nvPicPr>
        <p:blipFill>
          <a:blip r:embed="rId6"/>
          <a:stretch>
            <a:fillRect/>
          </a:stretch>
        </p:blipFill>
        <p:spPr>
          <a:xfrm>
            <a:off x="-4701" y="2382757"/>
            <a:ext cx="4487853" cy="275942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455</TotalTime>
  <Words>247</Words>
  <Application>Microsoft Office PowerPoint</Application>
  <PresentationFormat>Widescreen</PresentationFormat>
  <Paragraphs>15</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Century</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MRUNALI PATIL</cp:lastModifiedBy>
  <cp:revision>3</cp:revision>
  <dcterms:modified xsi:type="dcterms:W3CDTF">2025-08-16T12:54:50Z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65487c9-99ed-4cbc-93a8-0e9b1796bde5_Enabled">
    <vt:lpwstr>true</vt:lpwstr>
  </property>
  <property fmtid="{D5CDD505-2E9C-101B-9397-08002B2CF9AE}" pid="3" name="MSIP_Label_e65487c9-99ed-4cbc-93a8-0e9b1796bde5_SetDate">
    <vt:lpwstr>2023-08-22T15:55:58Z</vt:lpwstr>
  </property>
  <property fmtid="{D5CDD505-2E9C-101B-9397-08002B2CF9AE}" pid="4" name="MSIP_Label_e65487c9-99ed-4cbc-93a8-0e9b1796bde5_Method">
    <vt:lpwstr>Standard</vt:lpwstr>
  </property>
  <property fmtid="{D5CDD505-2E9C-101B-9397-08002B2CF9AE}" pid="5" name="MSIP_Label_e65487c9-99ed-4cbc-93a8-0e9b1796bde5_Name">
    <vt:lpwstr>defa4170-0d19-0005-0004-bc88714345d2</vt:lpwstr>
  </property>
  <property fmtid="{D5CDD505-2E9C-101B-9397-08002B2CF9AE}" pid="6" name="MSIP_Label_e65487c9-99ed-4cbc-93a8-0e9b1796bde5_SiteId">
    <vt:lpwstr>03cb5f0c-1f82-4993-9621-36330f6309ec</vt:lpwstr>
  </property>
  <property fmtid="{D5CDD505-2E9C-101B-9397-08002B2CF9AE}" pid="7" name="MSIP_Label_e65487c9-99ed-4cbc-93a8-0e9b1796bde5_ActionId">
    <vt:lpwstr>a9f9e4d2-07a5-4c01-b96a-2377cca3dabb</vt:lpwstr>
  </property>
  <property fmtid="{D5CDD505-2E9C-101B-9397-08002B2CF9AE}" pid="8" name="MSIP_Label_e65487c9-99ed-4cbc-93a8-0e9b1796bde5_ContentBits">
    <vt:lpwstr>0</vt:lpwstr>
  </property>
</Properties>
</file>